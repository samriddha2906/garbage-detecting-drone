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74" r:id="rId9"/>
    <p:sldId id="264" r:id="rId10"/>
    <p:sldId id="265" r:id="rId11"/>
    <p:sldId id="276" r:id="rId12"/>
    <p:sldId id="267" r:id="rId13"/>
    <p:sldId id="268" r:id="rId14"/>
    <p:sldId id="269" r:id="rId15"/>
    <p:sldId id="270" r:id="rId16"/>
    <p:sldId id="271" r:id="rId17"/>
    <p:sldId id="272" r:id="rId18"/>
    <p:sldId id="273" r:id="rId19"/>
  </p:sldIdLst>
  <p:sldSz cx="12192000" cy="6858000"/>
  <p:notesSz cx="6858000" cy="9144000"/>
  <p:embeddedFontLst>
    <p:embeddedFont>
      <p:font typeface="Century" panose="02040604050505020304" pitchFamily="18" charset="0"/>
      <p:regular r:id="rId21"/>
    </p:embeddedFont>
    <p:embeddedFont>
      <p:font typeface="Dutch801 XBd BT" panose="02020903060505020304" pitchFamily="18" charset="0"/>
      <p:regular r:id="rId22"/>
    </p:embeddedFont>
    <p:embeddedFont>
      <p:font typeface="Fira Sans" panose="020B05030500000200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jHek52VWfMFECZpOtbnhfLYEi/S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DF18680-E054-41AD-8BC1-D1AEF772440D}">
  <a:tblStyle styleId="{FE9C2245-D69D-46D5-9D47-0266151957A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804DA4A-ABA7-42D8-B383-DA686238DA92}"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b="off" i="off"/>
      <a:tcStyle>
        <a:tcBdr/>
        <a:fill>
          <a:solidFill>
            <a:srgbClr val="D0DEEF"/>
          </a:solidFill>
        </a:fill>
      </a:tcStyle>
    </a:band1H>
    <a:band2H>
      <a:tcTxStyle b="off" i="off"/>
      <a:tcStyle>
        <a:tcBdr/>
      </a:tcStyle>
    </a:band2H>
    <a:band1V>
      <a:tcTxStyle b="off" i="off"/>
      <a:tcStyle>
        <a:tcBdr/>
        <a:fill>
          <a:solidFill>
            <a:srgbClr val="D0DEEF"/>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139" autoAdjust="0"/>
  </p:normalViewPr>
  <p:slideViewPr>
    <p:cSldViewPr snapToGrid="0">
      <p:cViewPr>
        <p:scale>
          <a:sx n="75" d="100"/>
          <a:sy n="75" d="100"/>
        </p:scale>
        <p:origin x="946" y="9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94901597-472C-1662-6900-D005E03A1319}"/>
            </a:ext>
          </a:extLst>
        </p:cNvPr>
        <p:cNvGrpSpPr/>
        <p:nvPr/>
      </p:nvGrpSpPr>
      <p:grpSpPr>
        <a:xfrm>
          <a:off x="0" y="0"/>
          <a:ext cx="0" cy="0"/>
          <a:chOff x="0" y="0"/>
          <a:chExt cx="0" cy="0"/>
        </a:xfrm>
      </p:grpSpPr>
      <p:sp>
        <p:nvSpPr>
          <p:cNvPr id="151" name="Google Shape;151;p8:notes">
            <a:extLst>
              <a:ext uri="{FF2B5EF4-FFF2-40B4-BE49-F238E27FC236}">
                <a16:creationId xmlns:a16="http://schemas.microsoft.com/office/drawing/2014/main" id="{FDC3E9F7-B68B-2ED7-D019-037A2936C8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8:notes">
            <a:extLst>
              <a:ext uri="{FF2B5EF4-FFF2-40B4-BE49-F238E27FC236}">
                <a16:creationId xmlns:a16="http://schemas.microsoft.com/office/drawing/2014/main" id="{A1CE5BF4-5DC3-1143-7B94-D27AC366EE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819474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9" name="Google Shape;16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FFCFE7B5-5BDC-9B6F-0DE1-1371BB064B88}"/>
            </a:ext>
          </a:extLst>
        </p:cNvPr>
        <p:cNvGrpSpPr/>
        <p:nvPr/>
      </p:nvGrpSpPr>
      <p:grpSpPr>
        <a:xfrm>
          <a:off x="0" y="0"/>
          <a:ext cx="0" cy="0"/>
          <a:chOff x="0" y="0"/>
          <a:chExt cx="0" cy="0"/>
        </a:xfrm>
      </p:grpSpPr>
      <p:sp>
        <p:nvSpPr>
          <p:cNvPr id="190" name="Google Shape;190;p11:notes">
            <a:extLst>
              <a:ext uri="{FF2B5EF4-FFF2-40B4-BE49-F238E27FC236}">
                <a16:creationId xmlns:a16="http://schemas.microsoft.com/office/drawing/2014/main" id="{7D9EC3B4-921E-15D7-3EA5-1D48DA0609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p11:notes">
            <a:extLst>
              <a:ext uri="{FF2B5EF4-FFF2-40B4-BE49-F238E27FC236}">
                <a16:creationId xmlns:a16="http://schemas.microsoft.com/office/drawing/2014/main" id="{9B0ECBC6-88CB-4027-FEC0-49AB7EDFBA5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420153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2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2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2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8"/>
          <p:cNvSpPr>
            <a:spLocks noGrp="1"/>
          </p:cNvSpPr>
          <p:nvPr>
            <p:ph type="pic" idx="2"/>
          </p:nvPr>
        </p:nvSpPr>
        <p:spPr>
          <a:xfrm>
            <a:off x="5183188" y="987425"/>
            <a:ext cx="6172200" cy="4873625"/>
          </a:xfrm>
          <a:prstGeom prst="rect">
            <a:avLst/>
          </a:prstGeom>
          <a:noFill/>
          <a:ln>
            <a:noFill/>
          </a:ln>
        </p:spPr>
      </p:sp>
      <p:sp>
        <p:nvSpPr>
          <p:cNvPr id="68" name="Google Shape;68;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19" descr="A picture containing drawing&#10;&#10;Description automatically generated"/>
          <p:cNvPicPr preferRelativeResize="0"/>
          <p:nvPr/>
        </p:nvPicPr>
        <p:blipFill rotWithShape="1">
          <a:blip r:embed="rId13">
            <a:alphaModFix/>
          </a:blip>
          <a:srcRect/>
          <a:stretch/>
        </p:blipFill>
        <p:spPr>
          <a:xfrm>
            <a:off x="180328" y="93609"/>
            <a:ext cx="3783105" cy="863652"/>
          </a:xfrm>
          <a:prstGeom prst="rect">
            <a:avLst/>
          </a:prstGeom>
          <a:noFill/>
          <a:ln>
            <a:noFill/>
          </a:ln>
        </p:spPr>
      </p:pic>
      <p:pic>
        <p:nvPicPr>
          <p:cNvPr id="12" name="Google Shape;12;p19" descr="A close up of a sign&#10;&#10;Description automatically generated"/>
          <p:cNvPicPr preferRelativeResize="0"/>
          <p:nvPr/>
        </p:nvPicPr>
        <p:blipFill rotWithShape="1">
          <a:blip r:embed="rId14">
            <a:alphaModFix/>
          </a:blip>
          <a:srcRect/>
          <a:stretch/>
        </p:blipFill>
        <p:spPr>
          <a:xfrm>
            <a:off x="10757469" y="93609"/>
            <a:ext cx="1313507" cy="721920"/>
          </a:xfrm>
          <a:prstGeom prst="rect">
            <a:avLst/>
          </a:prstGeom>
          <a:noFill/>
          <a:ln>
            <a:noFill/>
          </a:ln>
        </p:spPr>
      </p:pic>
      <p:pic>
        <p:nvPicPr>
          <p:cNvPr id="13" name="Google Shape;13;p19"/>
          <p:cNvPicPr preferRelativeResize="0"/>
          <p:nvPr/>
        </p:nvPicPr>
        <p:blipFill rotWithShape="1">
          <a:blip r:embed="rId15">
            <a:alphaModFix/>
          </a:blip>
          <a:srcRect/>
          <a:stretch/>
        </p:blipFill>
        <p:spPr>
          <a:xfrm rot="5400000">
            <a:off x="5722459" y="409320"/>
            <a:ext cx="702416" cy="12236665"/>
          </a:xfrm>
          <a:prstGeom prst="rect">
            <a:avLst/>
          </a:prstGeom>
          <a:noFill/>
          <a:ln>
            <a:noFill/>
          </a:ln>
        </p:spPr>
      </p:pic>
      <p:pic>
        <p:nvPicPr>
          <p:cNvPr id="14" name="Google Shape;14;p19"/>
          <p:cNvPicPr preferRelativeResize="0"/>
          <p:nvPr/>
        </p:nvPicPr>
        <p:blipFill rotWithShape="1">
          <a:blip r:embed="rId16">
            <a:alphaModFix/>
          </a:blip>
          <a:srcRect/>
          <a:stretch/>
        </p:blipFill>
        <p:spPr>
          <a:xfrm rot="5400000">
            <a:off x="7421731" y="1406173"/>
            <a:ext cx="207493" cy="933304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13.jpg"/></Relationships>
</file>

<file path=ppt/slides/_rels/slide15.xml.rels><?xml version="1.0" encoding="UTF-8" standalone="yes"?>
<Relationships xmlns="http://schemas.openxmlformats.org/package/2006/relationships"><Relationship Id="rId3" Type="http://schemas.openxmlformats.org/officeDocument/2006/relationships/hyperlink" Target="https://drive.google.com/file/d/1sd36WH1DxfNUodX4LO99AANzWV8UiPy6/view?usp=drive_link"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drive.google.com/file/d/1m87tP-JAseUlWk_KbbWGhg3M0qqW1d5Q/view?usp=sharing"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945783" y="908720"/>
            <a:ext cx="7772400" cy="1081536"/>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ts val="6000"/>
              <a:buFont typeface="Calibri"/>
              <a:buNone/>
            </a:pPr>
            <a:r>
              <a:rPr lang="en-US" sz="4400" b="1" dirty="0">
                <a:solidFill>
                  <a:srgbClr val="C00000"/>
                </a:solidFill>
                <a:latin typeface="Arial"/>
                <a:ea typeface="Arial"/>
                <a:cs typeface="Arial"/>
                <a:sym typeface="Arial"/>
              </a:rPr>
              <a:t> </a:t>
            </a:r>
            <a:br>
              <a:rPr lang="en-US" sz="4400" b="1" dirty="0">
                <a:solidFill>
                  <a:srgbClr val="C00000"/>
                </a:solidFill>
                <a:latin typeface="Arial"/>
                <a:ea typeface="Arial"/>
                <a:cs typeface="Arial"/>
                <a:sym typeface="Arial"/>
              </a:rPr>
            </a:br>
            <a:br>
              <a:rPr lang="en-US" sz="4400" b="1" dirty="0">
                <a:solidFill>
                  <a:srgbClr val="C00000"/>
                </a:solidFill>
                <a:latin typeface="Arial"/>
                <a:ea typeface="Arial"/>
                <a:cs typeface="Arial"/>
                <a:sym typeface="Arial"/>
              </a:rPr>
            </a:br>
            <a:br>
              <a:rPr lang="en-US" sz="4400" b="1" dirty="0">
                <a:solidFill>
                  <a:srgbClr val="C00000"/>
                </a:solidFill>
                <a:latin typeface="Arial"/>
                <a:ea typeface="Arial"/>
                <a:cs typeface="Arial"/>
                <a:sym typeface="Arial"/>
              </a:rPr>
            </a:br>
            <a:br>
              <a:rPr lang="en-US" sz="4400" b="1" dirty="0">
                <a:solidFill>
                  <a:srgbClr val="C00000"/>
                </a:solidFill>
                <a:latin typeface="Arial"/>
                <a:ea typeface="Arial"/>
                <a:cs typeface="Arial"/>
                <a:sym typeface="Arial"/>
              </a:rPr>
            </a:br>
            <a:r>
              <a:rPr lang="en-US" sz="4400" b="1" dirty="0">
                <a:solidFill>
                  <a:srgbClr val="C00000"/>
                </a:solidFill>
                <a:latin typeface="Arial"/>
                <a:ea typeface="Arial"/>
                <a:cs typeface="Arial"/>
                <a:sym typeface="Arial"/>
              </a:rPr>
              <a:t>   PBL – Project </a:t>
            </a:r>
            <a:br>
              <a:rPr lang="en-US" sz="4400" b="1" dirty="0">
                <a:solidFill>
                  <a:srgbClr val="C00000"/>
                </a:solidFill>
                <a:latin typeface="Arial"/>
                <a:ea typeface="Arial"/>
                <a:cs typeface="Arial"/>
                <a:sym typeface="Arial"/>
              </a:rPr>
            </a:br>
            <a:r>
              <a:rPr lang="en-US" sz="3600" b="1" dirty="0">
                <a:solidFill>
                  <a:srgbClr val="C00000"/>
                </a:solidFill>
                <a:highlight>
                  <a:srgbClr val="C0C0C0"/>
                </a:highlight>
                <a:latin typeface="Arial"/>
                <a:ea typeface="Arial"/>
                <a:cs typeface="Arial"/>
                <a:sym typeface="Arial"/>
              </a:rPr>
              <a:t>HOUSE HOLD TRASH DETECTING DRONE VIA IMAGE RECOGNITION</a:t>
            </a:r>
            <a:endParaRPr sz="3600" b="1" dirty="0">
              <a:solidFill>
                <a:srgbClr val="C00000"/>
              </a:solidFill>
              <a:highlight>
                <a:srgbClr val="C0C0C0"/>
              </a:highlight>
              <a:latin typeface="Arial"/>
              <a:ea typeface="Arial"/>
              <a:cs typeface="Arial"/>
              <a:sym typeface="Arial"/>
            </a:endParaRPr>
          </a:p>
        </p:txBody>
      </p:sp>
      <p:sp>
        <p:nvSpPr>
          <p:cNvPr id="89" name="Google Shape;89;p1"/>
          <p:cNvSpPr txBox="1">
            <a:spLocks noGrp="1"/>
          </p:cNvSpPr>
          <p:nvPr>
            <p:ph type="subTitle" idx="1"/>
          </p:nvPr>
        </p:nvSpPr>
        <p:spPr>
          <a:xfrm>
            <a:off x="1112108" y="2409832"/>
            <a:ext cx="9681583" cy="92725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4400"/>
              <a:buNone/>
            </a:pPr>
            <a:r>
              <a:rPr lang="en-US" sz="2800" b="1" dirty="0">
                <a:latin typeface="Fira Sans"/>
                <a:ea typeface="Fira Sans"/>
                <a:cs typeface="Fira Sans"/>
                <a:sym typeface="Fira Sans"/>
              </a:rPr>
              <a:t>FY  </a:t>
            </a:r>
            <a:r>
              <a:rPr lang="en-US" sz="2800" b="1" dirty="0" err="1">
                <a:latin typeface="Fira Sans"/>
                <a:ea typeface="Fira Sans"/>
                <a:cs typeface="Fira Sans"/>
                <a:sym typeface="Fira Sans"/>
              </a:rPr>
              <a:t>B.tech</a:t>
            </a:r>
            <a:r>
              <a:rPr lang="en-US" sz="2800" b="1" dirty="0">
                <a:latin typeface="Fira Sans"/>
                <a:ea typeface="Fira Sans"/>
                <a:cs typeface="Fira Sans"/>
                <a:sym typeface="Fira Sans"/>
              </a:rPr>
              <a:t> -IT </a:t>
            </a:r>
            <a:endParaRPr dirty="0"/>
          </a:p>
          <a:p>
            <a:pPr marL="0" lvl="0" indent="0" algn="ctr" rtl="0">
              <a:lnSpc>
                <a:spcPct val="90000"/>
              </a:lnSpc>
              <a:spcBef>
                <a:spcPts val="0"/>
              </a:spcBef>
              <a:spcAft>
                <a:spcPts val="0"/>
              </a:spcAft>
              <a:buSzPts val="4400"/>
              <a:buNone/>
            </a:pPr>
            <a:r>
              <a:rPr lang="en-US" sz="2800" b="1" dirty="0">
                <a:latin typeface="Fira Sans"/>
                <a:ea typeface="Fira Sans"/>
                <a:cs typeface="Fira Sans"/>
                <a:sym typeface="Fira Sans"/>
              </a:rPr>
              <a:t>Semester -II ( 2024-25</a:t>
            </a:r>
            <a:r>
              <a:rPr lang="en-US" sz="3200" dirty="0">
                <a:latin typeface="Fira Sans"/>
                <a:ea typeface="Fira Sans"/>
                <a:cs typeface="Fira Sans"/>
                <a:sym typeface="Fira Sans"/>
              </a:rPr>
              <a:t>)</a:t>
            </a:r>
            <a:endParaRPr sz="3200" dirty="0">
              <a:latin typeface="Fira Sans"/>
              <a:ea typeface="Fira Sans"/>
              <a:cs typeface="Fira Sans"/>
              <a:sym typeface="Fira Sans"/>
            </a:endParaRPr>
          </a:p>
        </p:txBody>
      </p:sp>
      <p:sp>
        <p:nvSpPr>
          <p:cNvPr id="90" name="Google Shape;90;p1"/>
          <p:cNvSpPr txBox="1"/>
          <p:nvPr/>
        </p:nvSpPr>
        <p:spPr>
          <a:xfrm>
            <a:off x="2438392" y="3686311"/>
            <a:ext cx="8915400" cy="2229000"/>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chemeClr val="dk1"/>
              </a:buClr>
              <a:buSzPts val="2800"/>
              <a:buFont typeface="Arial"/>
              <a:buNone/>
            </a:pPr>
            <a:endParaRPr sz="2800" b="0" i="0" u="none" strike="noStrike" cap="none" dirty="0">
              <a:solidFill>
                <a:schemeClr val="dk1"/>
              </a:solidFill>
              <a:latin typeface="Fira Sans"/>
              <a:ea typeface="Fira Sans"/>
              <a:cs typeface="Fira Sans"/>
              <a:sym typeface="Fira Sans"/>
            </a:endParaRPr>
          </a:p>
        </p:txBody>
      </p:sp>
      <p:sp>
        <p:nvSpPr>
          <p:cNvPr id="91" name="Google Shape;91;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z="1800">
                <a:solidFill>
                  <a:schemeClr val="lt1"/>
                </a:solidFill>
              </a:rPr>
              <a:t>1</a:t>
            </a:fld>
            <a:endParaRPr sz="1800">
              <a:solidFill>
                <a:schemeClr val="lt1"/>
              </a:solidFill>
            </a:endParaRPr>
          </a:p>
        </p:txBody>
      </p:sp>
      <p:sp>
        <p:nvSpPr>
          <p:cNvPr id="92" name="Google Shape;92;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graphicFrame>
        <p:nvGraphicFramePr>
          <p:cNvPr id="2" name="Table 1">
            <a:extLst>
              <a:ext uri="{FF2B5EF4-FFF2-40B4-BE49-F238E27FC236}">
                <a16:creationId xmlns:a16="http://schemas.microsoft.com/office/drawing/2014/main" id="{34A333C4-EE70-1F06-2F81-118FC9693C80}"/>
              </a:ext>
            </a:extLst>
          </p:cNvPr>
          <p:cNvGraphicFramePr>
            <a:graphicFrameLocks noGrp="1"/>
          </p:cNvGraphicFramePr>
          <p:nvPr>
            <p:extLst>
              <p:ext uri="{D42A27DB-BD31-4B8C-83A1-F6EECF244321}">
                <p14:modId xmlns:p14="http://schemas.microsoft.com/office/powerpoint/2010/main" val="3295456792"/>
              </p:ext>
            </p:extLst>
          </p:nvPr>
        </p:nvGraphicFramePr>
        <p:xfrm>
          <a:off x="2064470" y="3429000"/>
          <a:ext cx="8095530" cy="2286314"/>
        </p:xfrm>
        <a:graphic>
          <a:graphicData uri="http://schemas.openxmlformats.org/drawingml/2006/table">
            <a:tbl>
              <a:tblPr firstRow="1" bandRow="1">
                <a:tableStyleId>{7DF18680-E054-41AD-8BC1-D1AEF772440D}</a:tableStyleId>
              </a:tblPr>
              <a:tblGrid>
                <a:gridCol w="4031530">
                  <a:extLst>
                    <a:ext uri="{9D8B030D-6E8A-4147-A177-3AD203B41FA5}">
                      <a16:colId xmlns:a16="http://schemas.microsoft.com/office/drawing/2014/main" val="3716397628"/>
                    </a:ext>
                  </a:extLst>
                </a:gridCol>
                <a:gridCol w="4064000">
                  <a:extLst>
                    <a:ext uri="{9D8B030D-6E8A-4147-A177-3AD203B41FA5}">
                      <a16:colId xmlns:a16="http://schemas.microsoft.com/office/drawing/2014/main" val="2589315548"/>
                    </a:ext>
                  </a:extLst>
                </a:gridCol>
              </a:tblGrid>
              <a:tr h="396397">
                <a:tc>
                  <a:txBody>
                    <a:bodyPr/>
                    <a:lstStyle/>
                    <a:p>
                      <a:r>
                        <a:rPr lang="en-US" sz="2400" dirty="0"/>
                        <a:t>Name</a:t>
                      </a:r>
                      <a:endParaRPr lang="en-IN" sz="2400" dirty="0"/>
                    </a:p>
                  </a:txBody>
                  <a:tcPr/>
                </a:tc>
                <a:tc>
                  <a:txBody>
                    <a:bodyPr/>
                    <a:lstStyle/>
                    <a:p>
                      <a:r>
                        <a:rPr lang="en-IN" sz="2400" dirty="0"/>
                        <a:t>Roll no</a:t>
                      </a:r>
                    </a:p>
                  </a:txBody>
                  <a:tcPr/>
                </a:tc>
                <a:extLst>
                  <a:ext uri="{0D108BD9-81ED-4DB2-BD59-A6C34878D82A}">
                    <a16:rowId xmlns:a16="http://schemas.microsoft.com/office/drawing/2014/main" val="2167842529"/>
                  </a:ext>
                </a:extLst>
              </a:tr>
              <a:tr h="396397">
                <a:tc>
                  <a:txBody>
                    <a:bodyPr/>
                    <a:lstStyle/>
                    <a:p>
                      <a:r>
                        <a:rPr lang="en-US" sz="1400" b="1" i="0" u="none" strike="noStrike" cap="none" dirty="0">
                          <a:solidFill>
                            <a:schemeClr val="dk1"/>
                          </a:solidFill>
                          <a:effectLst/>
                          <a:latin typeface="+mn-lt"/>
                          <a:ea typeface="+mn-ea"/>
                          <a:cs typeface="+mn-cs"/>
                          <a:sym typeface="Arial"/>
                        </a:rPr>
                        <a:t>Varun Nair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1" i="0" u="none" strike="noStrike" cap="none" dirty="0">
                          <a:solidFill>
                            <a:schemeClr val="dk1"/>
                          </a:solidFill>
                          <a:effectLst/>
                          <a:latin typeface="+mn-lt"/>
                          <a:ea typeface="+mn-ea"/>
                          <a:cs typeface="+mn-cs"/>
                          <a:sym typeface="Arial"/>
                        </a:rPr>
                        <a:t>16010424088</a:t>
                      </a:r>
                      <a:endParaRPr lang="en-IN" sz="1400" b="0" i="0" u="none" strike="noStrike" cap="none" dirty="0">
                        <a:solidFill>
                          <a:schemeClr val="dk1"/>
                        </a:solidFill>
                        <a:effectLst/>
                        <a:latin typeface="+mn-lt"/>
                        <a:ea typeface="+mn-ea"/>
                        <a:cs typeface="+mn-cs"/>
                        <a:sym typeface="Arial"/>
                      </a:endParaRPr>
                    </a:p>
                    <a:p>
                      <a:endParaRPr lang="en-IN" dirty="0"/>
                    </a:p>
                  </a:txBody>
                  <a:tcPr/>
                </a:tc>
                <a:extLst>
                  <a:ext uri="{0D108BD9-81ED-4DB2-BD59-A6C34878D82A}">
                    <a16:rowId xmlns:a16="http://schemas.microsoft.com/office/drawing/2014/main" val="2928787582"/>
                  </a:ext>
                </a:extLst>
              </a:tr>
              <a:tr h="396397">
                <a:tc>
                  <a:txBody>
                    <a:bodyPr/>
                    <a:lstStyle/>
                    <a:p>
                      <a:r>
                        <a:rPr lang="en-US" sz="1400" b="1" i="0" u="none" strike="noStrike" cap="none" dirty="0">
                          <a:solidFill>
                            <a:schemeClr val="dk1"/>
                          </a:solidFill>
                          <a:effectLst/>
                          <a:latin typeface="+mn-lt"/>
                          <a:ea typeface="+mn-ea"/>
                          <a:cs typeface="+mn-cs"/>
                          <a:sym typeface="Arial"/>
                        </a:rPr>
                        <a:t>Samriddha Pahari </a:t>
                      </a:r>
                      <a:endParaRPr lang="en-IN" dirty="0"/>
                    </a:p>
                  </a:txBody>
                  <a:tcPr/>
                </a:tc>
                <a:tc>
                  <a:txBody>
                    <a:bodyPr/>
                    <a:lstStyle/>
                    <a:p>
                      <a:r>
                        <a:rPr lang="en-US" sz="1400" b="1" i="0" u="none" strike="noStrike" cap="none" dirty="0">
                          <a:solidFill>
                            <a:schemeClr val="dk1"/>
                          </a:solidFill>
                          <a:effectLst/>
                          <a:latin typeface="+mn-lt"/>
                          <a:ea typeface="+mn-ea"/>
                          <a:cs typeface="+mn-cs"/>
                          <a:sym typeface="Arial"/>
                        </a:rPr>
                        <a:t>16010424089</a:t>
                      </a:r>
                      <a:endParaRPr lang="en-IN" dirty="0"/>
                    </a:p>
                  </a:txBody>
                  <a:tcPr/>
                </a:tc>
                <a:extLst>
                  <a:ext uri="{0D108BD9-81ED-4DB2-BD59-A6C34878D82A}">
                    <a16:rowId xmlns:a16="http://schemas.microsoft.com/office/drawing/2014/main" val="2390638275"/>
                  </a:ext>
                </a:extLst>
              </a:tr>
              <a:tr h="396397">
                <a:tc>
                  <a:txBody>
                    <a:bodyPr/>
                    <a:lstStyle/>
                    <a:p>
                      <a:r>
                        <a:rPr lang="en-US" sz="1400" b="1" i="0" u="none" strike="noStrike" cap="none" dirty="0">
                          <a:solidFill>
                            <a:schemeClr val="dk1"/>
                          </a:solidFill>
                          <a:effectLst/>
                          <a:latin typeface="+mn-lt"/>
                          <a:ea typeface="+mn-ea"/>
                          <a:cs typeface="+mn-cs"/>
                          <a:sym typeface="Arial"/>
                        </a:rPr>
                        <a:t>Aarushee </a:t>
                      </a:r>
                      <a:r>
                        <a:rPr lang="en-US" sz="1400" b="1" i="0" u="none" strike="noStrike" cap="none" dirty="0" err="1">
                          <a:solidFill>
                            <a:schemeClr val="dk1"/>
                          </a:solidFill>
                          <a:effectLst/>
                          <a:latin typeface="+mn-lt"/>
                          <a:ea typeface="+mn-ea"/>
                          <a:cs typeface="+mn-cs"/>
                          <a:sym typeface="Arial"/>
                        </a:rPr>
                        <a:t>Pandagare</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1" i="0" u="none" strike="noStrike" cap="none" dirty="0">
                          <a:solidFill>
                            <a:schemeClr val="dk1"/>
                          </a:solidFill>
                          <a:effectLst/>
                          <a:latin typeface="+mn-lt"/>
                          <a:ea typeface="+mn-ea"/>
                          <a:cs typeface="+mn-cs"/>
                          <a:sym typeface="Arial"/>
                        </a:rPr>
                        <a:t>16010424090</a:t>
                      </a:r>
                      <a:endParaRPr lang="en-IN" sz="1400" b="0" i="0" u="none" strike="noStrike" cap="none" dirty="0">
                        <a:solidFill>
                          <a:schemeClr val="dk1"/>
                        </a:solidFill>
                        <a:effectLst/>
                        <a:latin typeface="+mn-lt"/>
                        <a:ea typeface="+mn-ea"/>
                        <a:cs typeface="+mn-cs"/>
                        <a:sym typeface="Arial"/>
                      </a:endParaRPr>
                    </a:p>
                    <a:p>
                      <a:endParaRPr lang="en-IN" dirty="0"/>
                    </a:p>
                  </a:txBody>
                  <a:tcPr/>
                </a:tc>
                <a:extLst>
                  <a:ext uri="{0D108BD9-81ED-4DB2-BD59-A6C34878D82A}">
                    <a16:rowId xmlns:a16="http://schemas.microsoft.com/office/drawing/2014/main" val="709903722"/>
                  </a:ext>
                </a:extLst>
              </a:tr>
              <a:tr h="396397">
                <a:tc>
                  <a:txBody>
                    <a:bodyPr/>
                    <a:lstStyle/>
                    <a:p>
                      <a:r>
                        <a:rPr lang="en-US" sz="1400" b="1" i="0" u="none" strike="noStrike" cap="none" dirty="0">
                          <a:solidFill>
                            <a:schemeClr val="dk1"/>
                          </a:solidFill>
                          <a:effectLst/>
                          <a:latin typeface="+mn-lt"/>
                          <a:ea typeface="+mn-ea"/>
                          <a:cs typeface="+mn-cs"/>
                          <a:sym typeface="Arial"/>
                        </a:rPr>
                        <a:t>Aditya Pandey </a:t>
                      </a:r>
                      <a:endParaRPr lang="en-IN" dirty="0"/>
                    </a:p>
                  </a:txBody>
                  <a:tcPr/>
                </a:tc>
                <a:tc>
                  <a:txBody>
                    <a:bodyPr/>
                    <a:lstStyle/>
                    <a:p>
                      <a:r>
                        <a:rPr lang="en-US" sz="1400" b="1" i="0" u="none" strike="noStrike" cap="none" dirty="0">
                          <a:solidFill>
                            <a:schemeClr val="dk1"/>
                          </a:solidFill>
                          <a:effectLst/>
                          <a:latin typeface="+mn-lt"/>
                          <a:ea typeface="+mn-ea"/>
                          <a:cs typeface="+mn-cs"/>
                          <a:sym typeface="Arial"/>
                        </a:rPr>
                        <a:t>16010424091</a:t>
                      </a:r>
                      <a:endParaRPr lang="en-IN" dirty="0"/>
                    </a:p>
                  </a:txBody>
                  <a:tcPr/>
                </a:tc>
                <a:extLst>
                  <a:ext uri="{0D108BD9-81ED-4DB2-BD59-A6C34878D82A}">
                    <a16:rowId xmlns:a16="http://schemas.microsoft.com/office/drawing/2014/main" val="301856172"/>
                  </a:ext>
                </a:extLst>
              </a:tr>
            </a:tbl>
          </a:graphicData>
        </a:graphic>
      </p:graphicFrame>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ctrTitle"/>
          </p:nvPr>
        </p:nvSpPr>
        <p:spPr>
          <a:xfrm>
            <a:off x="1704475" y="1325388"/>
            <a:ext cx="9144000" cy="879476"/>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3600" b="1" dirty="0">
                <a:solidFill>
                  <a:srgbClr val="C00000"/>
                </a:solidFill>
                <a:latin typeface="Arial"/>
                <a:ea typeface="Arial"/>
                <a:cs typeface="Arial"/>
                <a:sym typeface="Arial"/>
              </a:rPr>
              <a:t>Theme chosen for Project </a:t>
            </a:r>
            <a:endParaRPr sz="3600" b="1" dirty="0">
              <a:solidFill>
                <a:srgbClr val="C00000"/>
              </a:solidFill>
              <a:latin typeface="Arial"/>
              <a:ea typeface="Arial"/>
              <a:cs typeface="Arial"/>
              <a:sym typeface="Arial"/>
            </a:endParaRPr>
          </a:p>
        </p:txBody>
      </p:sp>
      <p:sp>
        <p:nvSpPr>
          <p:cNvPr id="98" name="Google Shape;98;p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
        <p:nvSpPr>
          <p:cNvPr id="99" name="Google Shape;9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100" name="Google Shape;100;p2"/>
          <p:cNvSpPr txBox="1"/>
          <p:nvPr/>
        </p:nvSpPr>
        <p:spPr>
          <a:xfrm>
            <a:off x="727524" y="2387124"/>
            <a:ext cx="10736951"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dirty="0">
                <a:latin typeface="Dutch801 XBd BT" panose="02020903060505020304" pitchFamily="18" charset="0"/>
              </a:rPr>
              <a:t>                                       Street </a:t>
            </a:r>
            <a:r>
              <a:rPr lang="en-US" sz="2400" b="1" i="0" u="none" strike="noStrike" cap="none" dirty="0">
                <a:solidFill>
                  <a:srgbClr val="000000"/>
                </a:solidFill>
                <a:latin typeface="Dutch801 XBd BT" panose="02020903060505020304" pitchFamily="18" charset="0"/>
                <a:sym typeface="Arial"/>
              </a:rPr>
              <a:t>Trash Detecting Drone</a:t>
            </a:r>
            <a:endParaRPr sz="2400" b="1" i="0" u="none" strike="noStrike" cap="none" dirty="0">
              <a:solidFill>
                <a:srgbClr val="000000"/>
              </a:solidFill>
              <a:latin typeface="Dutch801 XBd BT" panose="02020903060505020304" pitchFamily="18" charset="0"/>
              <a:sym typeface="Arial"/>
            </a:endParaRPr>
          </a:p>
        </p:txBody>
      </p:sp>
      <p:pic>
        <p:nvPicPr>
          <p:cNvPr id="101" name="Google Shape;101;p2"/>
          <p:cNvPicPr preferRelativeResize="0"/>
          <p:nvPr/>
        </p:nvPicPr>
        <p:blipFill rotWithShape="1">
          <a:blip r:embed="rId3">
            <a:alphaModFix/>
          </a:blip>
          <a:srcRect/>
          <a:stretch/>
        </p:blipFill>
        <p:spPr>
          <a:xfrm>
            <a:off x="980566" y="3393524"/>
            <a:ext cx="2484150" cy="2519226"/>
          </a:xfrm>
          <a:prstGeom prst="rect">
            <a:avLst/>
          </a:prstGeom>
          <a:noFill/>
          <a:ln>
            <a:noFill/>
          </a:ln>
        </p:spPr>
      </p:pic>
      <p:pic>
        <p:nvPicPr>
          <p:cNvPr id="102" name="Google Shape;102;p2"/>
          <p:cNvPicPr preferRelativeResize="0"/>
          <p:nvPr/>
        </p:nvPicPr>
        <p:blipFill rotWithShape="1">
          <a:blip r:embed="rId4">
            <a:alphaModFix/>
          </a:blip>
          <a:srcRect/>
          <a:stretch/>
        </p:blipFill>
        <p:spPr>
          <a:xfrm>
            <a:off x="3568598" y="3393524"/>
            <a:ext cx="3045499" cy="2519224"/>
          </a:xfrm>
          <a:prstGeom prst="rect">
            <a:avLst/>
          </a:prstGeom>
          <a:noFill/>
          <a:ln>
            <a:noFill/>
          </a:ln>
        </p:spPr>
      </p:pic>
      <p:pic>
        <p:nvPicPr>
          <p:cNvPr id="103" name="Google Shape;103;p2"/>
          <p:cNvPicPr preferRelativeResize="0"/>
          <p:nvPr/>
        </p:nvPicPr>
        <p:blipFill rotWithShape="1">
          <a:blip r:embed="rId5">
            <a:alphaModFix/>
          </a:blip>
          <a:srcRect/>
          <a:stretch/>
        </p:blipFill>
        <p:spPr>
          <a:xfrm>
            <a:off x="6781800" y="3347669"/>
            <a:ext cx="2743200" cy="2519224"/>
          </a:xfrm>
          <a:prstGeom prst="rect">
            <a:avLst/>
          </a:prstGeom>
          <a:noFill/>
          <a:ln>
            <a:noFill/>
          </a:ln>
        </p:spPr>
      </p:pic>
      <p:pic>
        <p:nvPicPr>
          <p:cNvPr id="104" name="Google Shape;104;p2"/>
          <p:cNvPicPr preferRelativeResize="0"/>
          <p:nvPr/>
        </p:nvPicPr>
        <p:blipFill rotWithShape="1">
          <a:blip r:embed="rId6">
            <a:alphaModFix/>
          </a:blip>
          <a:srcRect/>
          <a:stretch/>
        </p:blipFill>
        <p:spPr>
          <a:xfrm>
            <a:off x="9569572" y="3301827"/>
            <a:ext cx="2557806" cy="2565065"/>
          </a:xfrm>
          <a:prstGeom prst="rect">
            <a:avLst/>
          </a:prstGeom>
          <a:noFill/>
          <a:ln>
            <a:noFill/>
          </a:ln>
        </p:spPr>
      </p:pic>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ctrTitle"/>
          </p:nvPr>
        </p:nvSpPr>
        <p:spPr>
          <a:xfrm>
            <a:off x="1487488" y="764704"/>
            <a:ext cx="9144000" cy="72246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3600" b="1">
                <a:solidFill>
                  <a:srgbClr val="C00000"/>
                </a:solidFill>
                <a:latin typeface="Arial"/>
                <a:ea typeface="Arial"/>
                <a:cs typeface="Arial"/>
                <a:sym typeface="Arial"/>
              </a:rPr>
              <a:t>Need Statement</a:t>
            </a:r>
            <a:endParaRPr sz="3600" b="1">
              <a:solidFill>
                <a:srgbClr val="C00000"/>
              </a:solidFill>
              <a:latin typeface="Arial"/>
              <a:ea typeface="Arial"/>
              <a:cs typeface="Arial"/>
              <a:sym typeface="Arial"/>
            </a:endParaRPr>
          </a:p>
        </p:txBody>
      </p:sp>
      <p:sp>
        <p:nvSpPr>
          <p:cNvPr id="110" name="Google Shape;110;p3"/>
          <p:cNvSpPr txBox="1">
            <a:spLocks noGrp="1"/>
          </p:cNvSpPr>
          <p:nvPr>
            <p:ph type="subTitle" idx="1"/>
          </p:nvPr>
        </p:nvSpPr>
        <p:spPr>
          <a:xfrm>
            <a:off x="263352" y="1556792"/>
            <a:ext cx="11737304" cy="370094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SzPts val="2400"/>
              <a:buNone/>
            </a:pPr>
            <a:r>
              <a:rPr lang="en-US" b="1" dirty="0"/>
              <a:t>There is a need for an autonomous drone-based system to detect and monitor street garbage in urban areas to </a:t>
            </a:r>
            <a:r>
              <a:rPr lang="en-US" b="1" dirty="0">
                <a:highlight>
                  <a:srgbClr val="FF0000"/>
                </a:highlight>
              </a:rPr>
              <a:t>improve waste management efficiency</a:t>
            </a:r>
            <a:r>
              <a:rPr lang="en-US" b="1" dirty="0"/>
              <a:t>. The current manual detection process is time-consuming, labor-intensive, and often ineffective, leading to environmental pollution, clogged drainage, public health hazards and prevent animals from eating the plastic (Cows and dogs). A smart drone equipped with </a:t>
            </a:r>
            <a:r>
              <a:rPr lang="en-US" b="1" dirty="0">
                <a:highlight>
                  <a:srgbClr val="FF0000"/>
                </a:highlight>
              </a:rPr>
              <a:t>AI-powered image recognition </a:t>
            </a:r>
            <a:r>
              <a:rPr lang="en-US" b="1" dirty="0"/>
              <a:t>can help municipal authorities identify garbage hotspots, optimize waste collection routes, and ensure cleaner streets, contributing to a healthier and more sustainable urban environment.</a:t>
            </a:r>
            <a:endParaRPr sz="3200" b="1" dirty="0">
              <a:latin typeface="Fira Sans"/>
              <a:ea typeface="Fira Sans"/>
              <a:cs typeface="Fira Sans"/>
              <a:sym typeface="Fira Sans"/>
            </a:endParaRPr>
          </a:p>
          <a:p>
            <a:pPr marL="0" lvl="0" indent="0" algn="ctr" rtl="0">
              <a:lnSpc>
                <a:spcPct val="90000"/>
              </a:lnSpc>
              <a:spcBef>
                <a:spcPts val="1000"/>
              </a:spcBef>
              <a:spcAft>
                <a:spcPts val="0"/>
              </a:spcAft>
              <a:buSzPts val="2400"/>
              <a:buNone/>
            </a:pPr>
            <a:endParaRPr sz="2800" dirty="0">
              <a:latin typeface="Fira Sans"/>
              <a:ea typeface="Fira Sans"/>
              <a:cs typeface="Fira Sans"/>
              <a:sym typeface="Fira Sans"/>
            </a:endParaRPr>
          </a:p>
        </p:txBody>
      </p:sp>
      <p:sp>
        <p:nvSpPr>
          <p:cNvPr id="111" name="Google Shape;111;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
        <p:nvSpPr>
          <p:cNvPr id="112" name="Google Shape;112;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4"/>
          <p:cNvSpPr txBox="1">
            <a:spLocks noGrp="1"/>
          </p:cNvSpPr>
          <p:nvPr>
            <p:ph type="title"/>
          </p:nvPr>
        </p:nvSpPr>
        <p:spPr>
          <a:xfrm>
            <a:off x="3968684" y="235670"/>
            <a:ext cx="5847175" cy="65015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3600" b="1" dirty="0">
                <a:solidFill>
                  <a:srgbClr val="C00000"/>
                </a:solidFill>
                <a:latin typeface="Arial"/>
                <a:ea typeface="Arial"/>
                <a:cs typeface="Arial"/>
                <a:sym typeface="Arial"/>
              </a:rPr>
              <a:t>Problem Statement</a:t>
            </a:r>
            <a:endParaRPr sz="3600" b="1" dirty="0">
              <a:solidFill>
                <a:srgbClr val="C00000"/>
              </a:solidFill>
              <a:latin typeface="Arial"/>
              <a:ea typeface="Arial"/>
              <a:cs typeface="Arial"/>
              <a:sym typeface="Arial"/>
            </a:endParaRPr>
          </a:p>
        </p:txBody>
      </p:sp>
      <p:sp>
        <p:nvSpPr>
          <p:cNvPr id="118" name="Google Shape;11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4</a:t>
            </a:fld>
            <a:endParaRPr>
              <a:solidFill>
                <a:schemeClr val="lt1"/>
              </a:solidFill>
            </a:endParaRPr>
          </a:p>
        </p:txBody>
      </p:sp>
      <p:sp>
        <p:nvSpPr>
          <p:cNvPr id="119" name="Google Shape;11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120" name="Google Shape;120;p4"/>
          <p:cNvSpPr txBox="1">
            <a:spLocks noGrp="1"/>
          </p:cNvSpPr>
          <p:nvPr>
            <p:ph type="body" idx="1"/>
          </p:nvPr>
        </p:nvSpPr>
        <p:spPr>
          <a:xfrm>
            <a:off x="0" y="1065213"/>
            <a:ext cx="11353800" cy="5111750"/>
          </a:xfrm>
          <a:prstGeom prst="rect">
            <a:avLst/>
          </a:prstGeom>
          <a:noFill/>
          <a:ln>
            <a:noFill/>
          </a:ln>
        </p:spPr>
        <p:txBody>
          <a:bodyPr spcFirstLastPara="1" wrap="square" lIns="91425" tIns="45700" rIns="91425" bIns="45700" anchor="t" anchorCtr="0">
            <a:normAutofit fontScale="25000" lnSpcReduction="20000"/>
          </a:bodyPr>
          <a:lstStyle/>
          <a:p>
            <a:pPr marL="914400" indent="-914400" algn="just">
              <a:lnSpc>
                <a:spcPct val="100000"/>
              </a:lnSpc>
              <a:spcBef>
                <a:spcPts val="0"/>
              </a:spcBef>
              <a:buClr>
                <a:srgbClr val="000000"/>
              </a:buClr>
              <a:buSzPts val="1400"/>
            </a:pPr>
            <a:r>
              <a:rPr lang="en-US" sz="8000" dirty="0">
                <a:latin typeface="Fira Sans"/>
                <a:ea typeface="Fira Sans"/>
                <a:cs typeface="Fira Sans"/>
                <a:sym typeface="Fira Sans"/>
              </a:rPr>
              <a:t>List  of objectives </a:t>
            </a:r>
            <a:r>
              <a:rPr lang="en-US" sz="7200" dirty="0">
                <a:latin typeface="Fira Sans"/>
                <a:ea typeface="Fira Sans"/>
                <a:cs typeface="Fira Sans"/>
                <a:sym typeface="Fira Sans"/>
              </a:rPr>
              <a:t>– </a:t>
            </a:r>
            <a:r>
              <a:rPr lang="en-US" sz="7200" b="1" i="0" u="none" strike="noStrike" cap="none" dirty="0">
                <a:latin typeface="Arial"/>
                <a:ea typeface="Arial"/>
                <a:cs typeface="Arial"/>
                <a:sym typeface="Arial"/>
              </a:rPr>
              <a:t>Prevent contamination</a:t>
            </a:r>
            <a:r>
              <a:rPr lang="en-US" sz="7200" b="0" i="0" u="none" strike="noStrike" cap="none" dirty="0">
                <a:latin typeface="Arial"/>
                <a:ea typeface="Arial"/>
                <a:cs typeface="Arial"/>
                <a:sym typeface="Arial"/>
              </a:rPr>
              <a:t> and reduce the spread of diseases caused by insect breeding.</a:t>
            </a:r>
          </a:p>
          <a:p>
            <a:pPr marL="1143000" indent="-1143000" algn="just">
              <a:lnSpc>
                <a:spcPct val="100000"/>
              </a:lnSpc>
              <a:spcBef>
                <a:spcPts val="0"/>
              </a:spcBef>
              <a:buClr>
                <a:srgbClr val="000000"/>
              </a:buClr>
              <a:buSzPts val="1400"/>
            </a:pPr>
            <a:endParaRPr lang="en-US" sz="7200" b="0" i="0" u="none" strike="noStrike" cap="none" dirty="0">
              <a:latin typeface="Arial"/>
              <a:ea typeface="Arial"/>
              <a:cs typeface="Arial"/>
              <a:sym typeface="Arial"/>
            </a:endParaRPr>
          </a:p>
          <a:p>
            <a:pPr marL="1143000" indent="-1143000" algn="just">
              <a:lnSpc>
                <a:spcPct val="100000"/>
              </a:lnSpc>
              <a:spcBef>
                <a:spcPts val="0"/>
              </a:spcBef>
              <a:buClr>
                <a:srgbClr val="000000"/>
              </a:buClr>
              <a:buSzPts val="1400"/>
            </a:pPr>
            <a:r>
              <a:rPr lang="en-US" sz="7200" b="1" i="0" u="none" strike="noStrike" cap="none" dirty="0">
                <a:latin typeface="Arial"/>
                <a:ea typeface="Arial"/>
                <a:cs typeface="Arial"/>
                <a:sym typeface="Arial"/>
              </a:rPr>
              <a:t>Protect animals</a:t>
            </a:r>
            <a:r>
              <a:rPr lang="en-US" sz="7200" b="0" i="0" u="none" strike="noStrike" cap="none" dirty="0">
                <a:latin typeface="Arial"/>
                <a:ea typeface="Arial"/>
                <a:cs typeface="Arial"/>
                <a:sym typeface="Arial"/>
              </a:rPr>
              <a:t> from </a:t>
            </a:r>
            <a:r>
              <a:rPr lang="en-US" sz="7200" b="1" i="0" u="none" strike="noStrike" cap="none" dirty="0">
                <a:latin typeface="Arial"/>
                <a:ea typeface="Arial"/>
                <a:cs typeface="Arial"/>
                <a:sym typeface="Arial"/>
              </a:rPr>
              <a:t>consuming plastic</a:t>
            </a:r>
            <a:r>
              <a:rPr lang="en-US" sz="7200" b="0" i="0" u="none" strike="noStrike" cap="none" dirty="0">
                <a:latin typeface="Arial"/>
                <a:ea typeface="Arial"/>
                <a:cs typeface="Arial"/>
                <a:sym typeface="Arial"/>
              </a:rPr>
              <a:t> and other </a:t>
            </a:r>
            <a:r>
              <a:rPr lang="en-US" sz="7200" b="1" i="0" u="none" strike="noStrike" cap="none" dirty="0">
                <a:latin typeface="Arial"/>
                <a:ea typeface="Arial"/>
                <a:cs typeface="Arial"/>
                <a:sym typeface="Arial"/>
              </a:rPr>
              <a:t>harmful waste.</a:t>
            </a:r>
          </a:p>
          <a:p>
            <a:pPr marL="1143000" indent="-1143000" algn="just">
              <a:lnSpc>
                <a:spcPct val="100000"/>
              </a:lnSpc>
              <a:spcBef>
                <a:spcPts val="0"/>
              </a:spcBef>
              <a:buClr>
                <a:srgbClr val="000000"/>
              </a:buClr>
              <a:buSzPts val="1400"/>
            </a:pPr>
            <a:endParaRPr lang="en-US" sz="7200" b="0" i="0" u="none" strike="noStrike" cap="none" dirty="0">
              <a:latin typeface="Arial"/>
              <a:ea typeface="Arial"/>
              <a:cs typeface="Arial"/>
              <a:sym typeface="Arial"/>
            </a:endParaRPr>
          </a:p>
          <a:p>
            <a:pPr marL="1143000" indent="-1143000" algn="just">
              <a:lnSpc>
                <a:spcPct val="100000"/>
              </a:lnSpc>
              <a:spcBef>
                <a:spcPts val="0"/>
              </a:spcBef>
              <a:buClr>
                <a:srgbClr val="000000"/>
              </a:buClr>
              <a:buSzPts val="1400"/>
            </a:pPr>
            <a:r>
              <a:rPr lang="en-US" sz="7200" b="1" i="0" u="none" strike="noStrike" cap="none" dirty="0">
                <a:latin typeface="Arial"/>
                <a:ea typeface="Arial"/>
                <a:cs typeface="Arial"/>
                <a:sym typeface="Arial"/>
              </a:rPr>
              <a:t>Enhance the </a:t>
            </a:r>
            <a:r>
              <a:rPr lang="en-US" sz="7200" b="0" i="0" u="none" strike="noStrike" cap="none" dirty="0">
                <a:latin typeface="Arial"/>
                <a:ea typeface="Arial"/>
                <a:cs typeface="Arial"/>
                <a:sym typeface="Arial"/>
              </a:rPr>
              <a:t>of social workers during cleanup projects.</a:t>
            </a:r>
          </a:p>
          <a:p>
            <a:pPr marL="0" marR="0" lvl="0" indent="0" algn="l" rtl="0">
              <a:lnSpc>
                <a:spcPct val="100000"/>
              </a:lnSpc>
              <a:spcBef>
                <a:spcPts val="0"/>
              </a:spcBef>
              <a:spcAft>
                <a:spcPts val="0"/>
              </a:spcAft>
              <a:buClr>
                <a:srgbClr val="000000"/>
              </a:buClr>
              <a:buSzPts val="1400"/>
              <a:buFont typeface="Arial"/>
              <a:buNone/>
            </a:pPr>
            <a:endParaRPr lang="en-US" sz="7200" b="0" i="0" u="none" strike="noStrike" cap="none" dirty="0">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Char char="•"/>
            </a:pPr>
            <a:r>
              <a:rPr lang="en-US" sz="7200" b="1" i="0" u="none" strike="noStrike" cap="none" dirty="0">
                <a:latin typeface="Arial"/>
                <a:ea typeface="Arial"/>
                <a:cs typeface="Arial"/>
                <a:sym typeface="Arial"/>
              </a:rPr>
              <a:t>Streamline waste detection and collection</a:t>
            </a:r>
            <a:r>
              <a:rPr lang="en-US" sz="7200" b="0" i="0" u="none" strike="noStrike" cap="none" dirty="0">
                <a:latin typeface="Arial"/>
                <a:ea typeface="Arial"/>
                <a:cs typeface="Arial"/>
                <a:sym typeface="Arial"/>
              </a:rPr>
              <a:t> for faster and more effective cleanup efforts </a:t>
            </a:r>
          </a:p>
          <a:p>
            <a:pPr marL="457200" lvl="0" indent="-333629" algn="just" rtl="0">
              <a:lnSpc>
                <a:spcPct val="150000"/>
              </a:lnSpc>
              <a:spcBef>
                <a:spcPts val="0"/>
              </a:spcBef>
              <a:spcAft>
                <a:spcPts val="0"/>
              </a:spcAft>
              <a:buSzPct val="155679"/>
              <a:buFont typeface="Noto Sans Symbols"/>
              <a:buNone/>
            </a:pPr>
            <a:endParaRPr sz="5000" dirty="0">
              <a:latin typeface="Fira Sans"/>
              <a:ea typeface="Fira Sans"/>
              <a:cs typeface="Fira Sans"/>
              <a:sym typeface="Fira Sans"/>
            </a:endParaRPr>
          </a:p>
          <a:p>
            <a:pPr marL="457200" lvl="0" indent="-457200" algn="just" rtl="0">
              <a:lnSpc>
                <a:spcPct val="150000"/>
              </a:lnSpc>
              <a:spcBef>
                <a:spcPts val="0"/>
              </a:spcBef>
              <a:spcAft>
                <a:spcPts val="0"/>
              </a:spcAft>
              <a:buSzPct val="155679"/>
              <a:buFont typeface="Noto Sans Symbols"/>
              <a:buChar char="⮚"/>
            </a:pPr>
            <a:r>
              <a:rPr lang="en-US" sz="8000" dirty="0">
                <a:latin typeface="Fira Sans"/>
                <a:ea typeface="Fira Sans"/>
                <a:cs typeface="Fira Sans"/>
                <a:sym typeface="Fira Sans"/>
              </a:rPr>
              <a:t>Constraints</a:t>
            </a:r>
            <a:r>
              <a:rPr lang="en-US" sz="6400" dirty="0">
                <a:latin typeface="Fira Sans"/>
                <a:ea typeface="Fira Sans"/>
                <a:cs typeface="Fira Sans"/>
                <a:sym typeface="Fira Sans"/>
              </a:rPr>
              <a:t> </a:t>
            </a:r>
            <a:r>
              <a:rPr lang="en-US" sz="5600" dirty="0">
                <a:latin typeface="Calibri" panose="020F0502020204030204" pitchFamily="34" charset="0"/>
                <a:ea typeface="Calibri" panose="020F0502020204030204" pitchFamily="34" charset="0"/>
                <a:cs typeface="Calibri" panose="020F0502020204030204" pitchFamily="34" charset="0"/>
                <a:sym typeface="Fira Sans"/>
              </a:rPr>
              <a:t>–     </a:t>
            </a:r>
            <a:r>
              <a:rPr lang="en-US" sz="7200" b="1" dirty="0">
                <a:latin typeface="Calibri" panose="020F0502020204030204" pitchFamily="34" charset="0"/>
                <a:ea typeface="Calibri" panose="020F0502020204030204" pitchFamily="34" charset="0"/>
                <a:cs typeface="Calibri" panose="020F0502020204030204" pitchFamily="34" charset="0"/>
                <a:sym typeface="Fira Sans"/>
              </a:rPr>
              <a:t>Money, Weather, Aerial Obstacles</a:t>
            </a:r>
            <a:endParaRPr sz="7200" dirty="0">
              <a:latin typeface="Calibri" panose="020F0502020204030204" pitchFamily="34" charset="0"/>
              <a:ea typeface="Calibri" panose="020F0502020204030204" pitchFamily="34" charset="0"/>
              <a:cs typeface="Calibri" panose="020F0502020204030204" pitchFamily="34" charset="0"/>
            </a:endParaRPr>
          </a:p>
          <a:p>
            <a:pPr marL="457200" lvl="0" indent="-457200" algn="just" rtl="0">
              <a:lnSpc>
                <a:spcPct val="150000"/>
              </a:lnSpc>
              <a:spcBef>
                <a:spcPts val="0"/>
              </a:spcBef>
              <a:spcAft>
                <a:spcPts val="0"/>
              </a:spcAft>
              <a:buSzPct val="155679"/>
              <a:buFont typeface="Noto Sans Symbols"/>
              <a:buChar char="⮚"/>
            </a:pPr>
            <a:r>
              <a:rPr lang="en-US" sz="8000" dirty="0">
                <a:latin typeface="Fira Sans"/>
                <a:ea typeface="Fira Sans"/>
                <a:cs typeface="Fira Sans"/>
                <a:sym typeface="Fira Sans"/>
              </a:rPr>
              <a:t>Functions </a:t>
            </a:r>
            <a:r>
              <a:rPr lang="en-US" sz="8000" b="1" dirty="0">
                <a:latin typeface="Fira Sans"/>
                <a:ea typeface="Fira Sans"/>
                <a:cs typeface="Fira Sans"/>
                <a:sym typeface="Fira Sans"/>
              </a:rPr>
              <a:t>–   </a:t>
            </a:r>
            <a:r>
              <a:rPr lang="en-US" sz="8000" b="1" dirty="0">
                <a:latin typeface="+mj-lt"/>
                <a:ea typeface="Fira Sans"/>
                <a:cs typeface="Fira Sans"/>
                <a:sym typeface="Fira Sans"/>
              </a:rPr>
              <a:t> </a:t>
            </a:r>
            <a:r>
              <a:rPr lang="en-US" sz="7200" b="1" dirty="0">
                <a:latin typeface="+mj-lt"/>
                <a:ea typeface="Fira Sans"/>
                <a:cs typeface="Fira Sans"/>
                <a:sym typeface="Fira Sans"/>
              </a:rPr>
              <a:t>Live image detection of the garbage and Beeping when garbage is detected</a:t>
            </a:r>
            <a:endParaRPr lang="en-IN" sz="7200" dirty="0">
              <a:latin typeface="Fira Sans"/>
              <a:ea typeface="Fira Sans"/>
              <a:cs typeface="Fira Sans"/>
              <a:sym typeface="Fira Sans"/>
            </a:endParaRPr>
          </a:p>
          <a:p>
            <a:pPr marL="457200" lvl="0" indent="-457200" algn="l" rtl="0">
              <a:lnSpc>
                <a:spcPct val="150000"/>
              </a:lnSpc>
              <a:spcBef>
                <a:spcPts val="0"/>
              </a:spcBef>
              <a:spcAft>
                <a:spcPts val="0"/>
              </a:spcAft>
              <a:buSzPct val="155679"/>
              <a:buFont typeface="Noto Sans Symbols"/>
              <a:buChar char="⮚"/>
            </a:pPr>
            <a:r>
              <a:rPr lang="en-US" sz="8000" dirty="0">
                <a:solidFill>
                  <a:srgbClr val="FF0000"/>
                </a:solidFill>
                <a:latin typeface="Fira Sans"/>
                <a:ea typeface="Fira Sans"/>
                <a:cs typeface="Fira Sans"/>
                <a:sym typeface="Fira Sans"/>
              </a:rPr>
              <a:t>Final Problem Statement   </a:t>
            </a:r>
            <a:r>
              <a:rPr lang="en-US" sz="5600" dirty="0">
                <a:latin typeface="+mn-lt"/>
                <a:ea typeface="Fira Sans"/>
                <a:cs typeface="Fira Sans"/>
                <a:sym typeface="Fira Sans"/>
              </a:rPr>
              <a:t>- Open garbage on streets leads to contamination, creates breeding grounds for insects, and poses a serious risk to animals that consume plastic waste. This issue arises due to </a:t>
            </a:r>
            <a:r>
              <a:rPr lang="en-US" sz="5600" b="1" dirty="0">
                <a:highlight>
                  <a:srgbClr val="FF0000"/>
                </a:highlight>
                <a:latin typeface="+mn-lt"/>
                <a:ea typeface="Fira Sans"/>
                <a:cs typeface="Fira Sans"/>
                <a:sym typeface="Fira Sans"/>
              </a:rPr>
              <a:t>improper waste disposal</a:t>
            </a:r>
            <a:r>
              <a:rPr lang="en-US" sz="5600" dirty="0">
                <a:latin typeface="+mn-lt"/>
                <a:ea typeface="Fira Sans"/>
                <a:cs typeface="Fira Sans"/>
                <a:sym typeface="Fira Sans"/>
              </a:rPr>
              <a:t>, as many areas lack accessible garbage bins, causing people to discard household waste on the streets. To address this, an </a:t>
            </a:r>
            <a:r>
              <a:rPr lang="en-US" sz="5600" b="1" dirty="0">
                <a:latin typeface="+mn-lt"/>
                <a:ea typeface="Fira Sans"/>
                <a:cs typeface="Fira Sans"/>
                <a:sym typeface="Fira Sans"/>
              </a:rPr>
              <a:t>AI-powered drone </a:t>
            </a:r>
            <a:r>
              <a:rPr lang="en-US" sz="5600" dirty="0">
                <a:latin typeface="+mn-lt"/>
                <a:ea typeface="Fira Sans"/>
                <a:cs typeface="Fira Sans"/>
                <a:sym typeface="Fira Sans"/>
              </a:rPr>
              <a:t>can be deployed to </a:t>
            </a:r>
            <a:r>
              <a:rPr lang="en-US" sz="5600" b="1" dirty="0">
                <a:highlight>
                  <a:srgbClr val="FF0000"/>
                </a:highlight>
                <a:latin typeface="+mn-lt"/>
                <a:ea typeface="Fira Sans"/>
                <a:cs typeface="Fira Sans"/>
                <a:sym typeface="Fira Sans"/>
              </a:rPr>
              <a:t>detect and locate garbage hotspots</a:t>
            </a:r>
            <a:r>
              <a:rPr lang="en-US" sz="5600" dirty="0">
                <a:latin typeface="+mn-lt"/>
                <a:ea typeface="Fira Sans"/>
                <a:cs typeface="Fira Sans"/>
                <a:sym typeface="Fira Sans"/>
              </a:rPr>
              <a:t>, enabling municipal authorities and social workers to efficiently manage waste collection and maintain cleaner urban environments.</a:t>
            </a:r>
          </a:p>
          <a:p>
            <a:pPr marL="457200" lvl="0" indent="-333629" algn="just" rtl="0">
              <a:lnSpc>
                <a:spcPct val="150000"/>
              </a:lnSpc>
              <a:spcBef>
                <a:spcPts val="0"/>
              </a:spcBef>
              <a:spcAft>
                <a:spcPts val="0"/>
              </a:spcAft>
              <a:buSzPct val="324333"/>
              <a:buFont typeface="Noto Sans Symbols"/>
              <a:buNone/>
            </a:pPr>
            <a:endParaRPr sz="2400" dirty="0">
              <a:latin typeface="Times New Roman"/>
              <a:ea typeface="Times New Roman"/>
              <a:cs typeface="Times New Roman"/>
              <a:sym typeface="Times New Roman"/>
            </a:endParaRP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5"/>
          <p:cNvSpPr txBox="1">
            <a:spLocks noGrp="1"/>
          </p:cNvSpPr>
          <p:nvPr>
            <p:ph type="title"/>
          </p:nvPr>
        </p:nvSpPr>
        <p:spPr>
          <a:xfrm>
            <a:off x="1600985" y="970961"/>
            <a:ext cx="8843914" cy="47134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sz="3200" dirty="0">
                <a:solidFill>
                  <a:srgbClr val="C00000"/>
                </a:solidFill>
                <a:latin typeface="Arial"/>
                <a:ea typeface="Arial"/>
                <a:cs typeface="Arial"/>
                <a:sym typeface="Arial"/>
              </a:rPr>
              <a:t>H</a:t>
            </a:r>
            <a:r>
              <a:rPr lang="en-US" sz="3200" b="1" dirty="0">
                <a:solidFill>
                  <a:srgbClr val="C00000"/>
                </a:solidFill>
                <a:latin typeface="Arial"/>
                <a:ea typeface="Arial"/>
                <a:cs typeface="Arial"/>
                <a:sym typeface="Arial"/>
              </a:rPr>
              <a:t>ardware / Software Requirements</a:t>
            </a:r>
            <a:endParaRPr sz="3200" b="1" dirty="0">
              <a:solidFill>
                <a:srgbClr val="C00000"/>
              </a:solidFill>
              <a:latin typeface="Arial"/>
              <a:ea typeface="Arial"/>
              <a:cs typeface="Arial"/>
              <a:sym typeface="Arial"/>
            </a:endParaRPr>
          </a:p>
        </p:txBody>
      </p:sp>
      <p:sp>
        <p:nvSpPr>
          <p:cNvPr id="127" name="Google Shape;127;p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
        <p:nvSpPr>
          <p:cNvPr id="128" name="Google Shape;12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graphicFrame>
        <p:nvGraphicFramePr>
          <p:cNvPr id="3" name="Table 2">
            <a:extLst>
              <a:ext uri="{FF2B5EF4-FFF2-40B4-BE49-F238E27FC236}">
                <a16:creationId xmlns:a16="http://schemas.microsoft.com/office/drawing/2014/main" id="{5DE6E1E2-02C5-C4BB-8F0C-CEDBDD056D38}"/>
              </a:ext>
            </a:extLst>
          </p:cNvPr>
          <p:cNvGraphicFramePr>
            <a:graphicFrameLocks noGrp="1"/>
          </p:cNvGraphicFramePr>
          <p:nvPr>
            <p:extLst>
              <p:ext uri="{D42A27DB-BD31-4B8C-83A1-F6EECF244321}">
                <p14:modId xmlns:p14="http://schemas.microsoft.com/office/powerpoint/2010/main" val="3854786551"/>
              </p:ext>
            </p:extLst>
          </p:nvPr>
        </p:nvGraphicFramePr>
        <p:xfrm>
          <a:off x="2872409" y="1442301"/>
          <a:ext cx="6152321" cy="4729901"/>
        </p:xfrm>
        <a:graphic>
          <a:graphicData uri="http://schemas.openxmlformats.org/drawingml/2006/table">
            <a:tbl>
              <a:tblPr firstRow="1" bandRow="1">
                <a:tableStyleId>{FABFCF23-3B69-468F-B69F-88F6DE6A72F2}</a:tableStyleId>
              </a:tblPr>
              <a:tblGrid>
                <a:gridCol w="2258441">
                  <a:extLst>
                    <a:ext uri="{9D8B030D-6E8A-4147-A177-3AD203B41FA5}">
                      <a16:colId xmlns:a16="http://schemas.microsoft.com/office/drawing/2014/main" val="3929568417"/>
                    </a:ext>
                  </a:extLst>
                </a:gridCol>
                <a:gridCol w="3893880">
                  <a:extLst>
                    <a:ext uri="{9D8B030D-6E8A-4147-A177-3AD203B41FA5}">
                      <a16:colId xmlns:a16="http://schemas.microsoft.com/office/drawing/2014/main" val="1394959634"/>
                    </a:ext>
                  </a:extLst>
                </a:gridCol>
              </a:tblGrid>
              <a:tr h="216718">
                <a:tc>
                  <a:txBody>
                    <a:bodyPr/>
                    <a:lstStyle/>
                    <a:p>
                      <a:r>
                        <a:rPr lang="en-US" sz="700" dirty="0">
                          <a:solidFill>
                            <a:schemeClr val="bg1"/>
                          </a:solidFill>
                        </a:rPr>
                        <a:t>                              Hardware </a:t>
                      </a:r>
                      <a:endParaRPr lang="en-IN" sz="700" dirty="0"/>
                    </a:p>
                  </a:txBody>
                  <a:tcPr/>
                </a:tc>
                <a:tc>
                  <a:txBody>
                    <a:bodyPr/>
                    <a:lstStyle/>
                    <a:p>
                      <a:r>
                        <a:rPr lang="en-US" sz="800" u="none" strike="noStrike" cap="none" dirty="0">
                          <a:solidFill>
                            <a:schemeClr val="lt1"/>
                          </a:solidFill>
                        </a:rPr>
                        <a:t>Software</a:t>
                      </a:r>
                      <a:endParaRPr lang="en-IN" sz="700" dirty="0"/>
                    </a:p>
                  </a:txBody>
                  <a:tcPr/>
                </a:tc>
                <a:extLst>
                  <a:ext uri="{0D108BD9-81ED-4DB2-BD59-A6C34878D82A}">
                    <a16:rowId xmlns:a16="http://schemas.microsoft.com/office/drawing/2014/main" val="410886522"/>
                  </a:ext>
                </a:extLst>
              </a:tr>
              <a:tr h="3336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1" u="none" dirty="0">
                          <a:solidFill>
                            <a:schemeClr val="tx1"/>
                          </a:solidFill>
                        </a:rPr>
                        <a:t>CP2102</a:t>
                      </a:r>
                      <a:endParaRPr lang="en-IN" sz="800" b="1" u="none"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1" u="none" strike="noStrike" cap="none" dirty="0">
                          <a:solidFill>
                            <a:schemeClr val="dk1"/>
                          </a:solidFill>
                        </a:rPr>
                        <a:t>OPEN CV</a:t>
                      </a:r>
                      <a:endParaRPr lang="en-US" sz="800" dirty="0"/>
                    </a:p>
                    <a:p>
                      <a:endParaRPr lang="en-IN" sz="700" dirty="0"/>
                    </a:p>
                  </a:txBody>
                  <a:tcPr/>
                </a:tc>
                <a:extLst>
                  <a:ext uri="{0D108BD9-81ED-4DB2-BD59-A6C34878D82A}">
                    <a16:rowId xmlns:a16="http://schemas.microsoft.com/office/drawing/2014/main" val="3701951284"/>
                  </a:ext>
                </a:extLst>
              </a:tr>
              <a:tr h="34055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1" u="none" dirty="0">
                          <a:solidFill>
                            <a:schemeClr val="tx1"/>
                          </a:solidFill>
                        </a:rPr>
                        <a:t>MPU 6050</a:t>
                      </a:r>
                    </a:p>
                    <a:p>
                      <a:endParaRPr lang="en-IN" sz="8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1" u="none" strike="noStrike" cap="none" dirty="0">
                          <a:solidFill>
                            <a:schemeClr val="dk1"/>
                          </a:solidFill>
                        </a:rPr>
                        <a:t>ESP 32 </a:t>
                      </a:r>
                      <a:endParaRPr lang="en-US" sz="800" dirty="0"/>
                    </a:p>
                    <a:p>
                      <a:endParaRPr lang="en-IN" sz="700" dirty="0"/>
                    </a:p>
                  </a:txBody>
                  <a:tcPr/>
                </a:tc>
                <a:extLst>
                  <a:ext uri="{0D108BD9-81ED-4DB2-BD59-A6C34878D82A}">
                    <a16:rowId xmlns:a16="http://schemas.microsoft.com/office/drawing/2014/main" val="693186549"/>
                  </a:ext>
                </a:extLst>
              </a:tr>
              <a:tr h="34055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1" u="none" dirty="0">
                          <a:solidFill>
                            <a:schemeClr val="tx1"/>
                          </a:solidFill>
                        </a:rPr>
                        <a:t>TP4056</a:t>
                      </a:r>
                    </a:p>
                    <a:p>
                      <a:endParaRPr lang="en-IN" sz="800" dirty="0"/>
                    </a:p>
                  </a:txBody>
                  <a:tcPr/>
                </a:tc>
                <a:tc>
                  <a:txBody>
                    <a:bodyPr/>
                    <a:lstStyle/>
                    <a:p>
                      <a:r>
                        <a:rPr lang="en-IN" sz="1000" b="1" dirty="0"/>
                        <a:t>YOLO</a:t>
                      </a:r>
                    </a:p>
                  </a:txBody>
                  <a:tcPr/>
                </a:tc>
                <a:extLst>
                  <a:ext uri="{0D108BD9-81ED-4DB2-BD59-A6C34878D82A}">
                    <a16:rowId xmlns:a16="http://schemas.microsoft.com/office/drawing/2014/main" val="2277258899"/>
                  </a:ext>
                </a:extLst>
              </a:tr>
              <a:tr h="34055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1" u="none" dirty="0">
                          <a:solidFill>
                            <a:schemeClr val="tx1"/>
                          </a:solidFill>
                        </a:rPr>
                        <a:t>4148 Diode</a:t>
                      </a:r>
                    </a:p>
                    <a:p>
                      <a:endParaRPr lang="en-IN" sz="800" dirty="0"/>
                    </a:p>
                  </a:txBody>
                  <a:tcPr/>
                </a:tc>
                <a:tc>
                  <a:txBody>
                    <a:bodyPr/>
                    <a:lstStyle/>
                    <a:p>
                      <a:r>
                        <a:rPr lang="en-IN" sz="1000" b="1" dirty="0" err="1"/>
                        <a:t>Roboflow</a:t>
                      </a:r>
                      <a:endParaRPr lang="en-IN" sz="1000" b="1" dirty="0"/>
                    </a:p>
                  </a:txBody>
                  <a:tcPr/>
                </a:tc>
                <a:extLst>
                  <a:ext uri="{0D108BD9-81ED-4DB2-BD59-A6C34878D82A}">
                    <a16:rowId xmlns:a16="http://schemas.microsoft.com/office/drawing/2014/main" val="387126166"/>
                  </a:ext>
                </a:extLst>
              </a:tr>
              <a:tr h="34055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1" u="none" dirty="0">
                          <a:solidFill>
                            <a:schemeClr val="tx1"/>
                          </a:solidFill>
                        </a:rPr>
                        <a:t>Slide Switch</a:t>
                      </a:r>
                    </a:p>
                    <a:p>
                      <a:endParaRPr lang="en-IN" sz="800" dirty="0"/>
                    </a:p>
                  </a:txBody>
                  <a:tcPr/>
                </a:tc>
                <a:tc>
                  <a:txBody>
                    <a:bodyPr/>
                    <a:lstStyle/>
                    <a:p>
                      <a:endParaRPr lang="en-IN" sz="700" dirty="0"/>
                    </a:p>
                  </a:txBody>
                  <a:tcPr/>
                </a:tc>
                <a:extLst>
                  <a:ext uri="{0D108BD9-81ED-4DB2-BD59-A6C34878D82A}">
                    <a16:rowId xmlns:a16="http://schemas.microsoft.com/office/drawing/2014/main" val="1578922925"/>
                  </a:ext>
                </a:extLst>
              </a:tr>
              <a:tr h="34055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1" u="none" dirty="0">
                          <a:solidFill>
                            <a:schemeClr val="tx1"/>
                          </a:solidFill>
                        </a:rPr>
                        <a:t>JUMPER WIRES (M-M, F-M) </a:t>
                      </a:r>
                    </a:p>
                    <a:p>
                      <a:endParaRPr lang="en-IN" sz="800" dirty="0"/>
                    </a:p>
                  </a:txBody>
                  <a:tcPr/>
                </a:tc>
                <a:tc>
                  <a:txBody>
                    <a:bodyPr/>
                    <a:lstStyle/>
                    <a:p>
                      <a:endParaRPr lang="en-IN" sz="700" dirty="0"/>
                    </a:p>
                  </a:txBody>
                  <a:tcPr/>
                </a:tc>
                <a:extLst>
                  <a:ext uri="{0D108BD9-81ED-4DB2-BD59-A6C34878D82A}">
                    <a16:rowId xmlns:a16="http://schemas.microsoft.com/office/drawing/2014/main" val="1227024829"/>
                  </a:ext>
                </a:extLst>
              </a:tr>
              <a:tr h="34055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1" u="none" dirty="0">
                          <a:solidFill>
                            <a:schemeClr val="tx1"/>
                          </a:solidFill>
                        </a:rPr>
                        <a:t>ESP 32- CAM MODULE </a:t>
                      </a:r>
                    </a:p>
                    <a:p>
                      <a:endParaRPr lang="en-IN" sz="800" dirty="0"/>
                    </a:p>
                  </a:txBody>
                  <a:tcPr/>
                </a:tc>
                <a:tc>
                  <a:txBody>
                    <a:bodyPr/>
                    <a:lstStyle/>
                    <a:p>
                      <a:endParaRPr lang="en-IN" sz="700" dirty="0"/>
                    </a:p>
                  </a:txBody>
                  <a:tcPr/>
                </a:tc>
                <a:extLst>
                  <a:ext uri="{0D108BD9-81ED-4DB2-BD59-A6C34878D82A}">
                    <a16:rowId xmlns:a16="http://schemas.microsoft.com/office/drawing/2014/main" val="3426196781"/>
                  </a:ext>
                </a:extLst>
              </a:tr>
              <a:tr h="34055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1" u="none" dirty="0">
                          <a:solidFill>
                            <a:schemeClr val="tx1"/>
                          </a:solidFill>
                        </a:rPr>
                        <a:t>3.7 V BATTERY (DRONE) </a:t>
                      </a:r>
                    </a:p>
                    <a:p>
                      <a:endParaRPr lang="en-IN" sz="800" dirty="0"/>
                    </a:p>
                  </a:txBody>
                  <a:tcPr/>
                </a:tc>
                <a:tc>
                  <a:txBody>
                    <a:bodyPr/>
                    <a:lstStyle/>
                    <a:p>
                      <a:endParaRPr lang="en-IN" sz="700" dirty="0"/>
                    </a:p>
                  </a:txBody>
                  <a:tcPr/>
                </a:tc>
                <a:extLst>
                  <a:ext uri="{0D108BD9-81ED-4DB2-BD59-A6C34878D82A}">
                    <a16:rowId xmlns:a16="http://schemas.microsoft.com/office/drawing/2014/main" val="321981534"/>
                  </a:ext>
                </a:extLst>
              </a:tr>
              <a:tr h="34055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1" u="none" dirty="0">
                          <a:solidFill>
                            <a:schemeClr val="tx1"/>
                          </a:solidFill>
                        </a:rPr>
                        <a:t>720 Coreless Motors</a:t>
                      </a:r>
                    </a:p>
                    <a:p>
                      <a:endParaRPr lang="en-IN" sz="800" dirty="0"/>
                    </a:p>
                  </a:txBody>
                  <a:tcPr/>
                </a:tc>
                <a:tc>
                  <a:txBody>
                    <a:bodyPr/>
                    <a:lstStyle/>
                    <a:p>
                      <a:endParaRPr lang="en-IN" sz="700" dirty="0"/>
                    </a:p>
                  </a:txBody>
                  <a:tcPr/>
                </a:tc>
                <a:extLst>
                  <a:ext uri="{0D108BD9-81ED-4DB2-BD59-A6C34878D82A}">
                    <a16:rowId xmlns:a16="http://schemas.microsoft.com/office/drawing/2014/main" val="4215008568"/>
                  </a:ext>
                </a:extLst>
              </a:tr>
              <a:tr h="34055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1" u="none" dirty="0">
                          <a:solidFill>
                            <a:schemeClr val="tx1"/>
                          </a:solidFill>
                        </a:rPr>
                        <a:t>PCB</a:t>
                      </a:r>
                    </a:p>
                    <a:p>
                      <a:endParaRPr lang="en-IN" sz="800" dirty="0"/>
                    </a:p>
                  </a:txBody>
                  <a:tcPr/>
                </a:tc>
                <a:tc>
                  <a:txBody>
                    <a:bodyPr/>
                    <a:lstStyle/>
                    <a:p>
                      <a:endParaRPr lang="en-IN" sz="700" dirty="0"/>
                    </a:p>
                  </a:txBody>
                  <a:tcPr/>
                </a:tc>
                <a:extLst>
                  <a:ext uri="{0D108BD9-81ED-4DB2-BD59-A6C34878D82A}">
                    <a16:rowId xmlns:a16="http://schemas.microsoft.com/office/drawing/2014/main" val="567489833"/>
                  </a:ext>
                </a:extLst>
              </a:tr>
              <a:tr h="34055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1" u="none" dirty="0">
                          <a:solidFill>
                            <a:schemeClr val="tx1"/>
                          </a:solidFill>
                        </a:rPr>
                        <a:t>Propeller set</a:t>
                      </a:r>
                    </a:p>
                    <a:p>
                      <a:endParaRPr lang="en-IN" sz="800" dirty="0"/>
                    </a:p>
                  </a:txBody>
                  <a:tcPr/>
                </a:tc>
                <a:tc>
                  <a:txBody>
                    <a:bodyPr/>
                    <a:lstStyle/>
                    <a:p>
                      <a:endParaRPr lang="en-IN" sz="700" dirty="0"/>
                    </a:p>
                  </a:txBody>
                  <a:tcPr/>
                </a:tc>
                <a:extLst>
                  <a:ext uri="{0D108BD9-81ED-4DB2-BD59-A6C34878D82A}">
                    <a16:rowId xmlns:a16="http://schemas.microsoft.com/office/drawing/2014/main" val="3474883364"/>
                  </a:ext>
                </a:extLst>
              </a:tr>
              <a:tr h="34055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1" u="none" dirty="0">
                          <a:solidFill>
                            <a:schemeClr val="tx1"/>
                          </a:solidFill>
                        </a:rPr>
                        <a:t>Motor driver</a:t>
                      </a:r>
                    </a:p>
                    <a:p>
                      <a:endParaRPr lang="en-IN" sz="800" dirty="0"/>
                    </a:p>
                  </a:txBody>
                  <a:tcPr/>
                </a:tc>
                <a:tc>
                  <a:txBody>
                    <a:bodyPr/>
                    <a:lstStyle/>
                    <a:p>
                      <a:endParaRPr lang="en-IN" sz="700" dirty="0"/>
                    </a:p>
                  </a:txBody>
                  <a:tcPr/>
                </a:tc>
                <a:extLst>
                  <a:ext uri="{0D108BD9-81ED-4DB2-BD59-A6C34878D82A}">
                    <a16:rowId xmlns:a16="http://schemas.microsoft.com/office/drawing/2014/main" val="1620129572"/>
                  </a:ext>
                </a:extLst>
              </a:tr>
              <a:tr h="216718">
                <a:tc>
                  <a:txBody>
                    <a:bodyPr/>
                    <a:lstStyle/>
                    <a:p>
                      <a:r>
                        <a:rPr lang="en-US" sz="800" dirty="0"/>
                        <a:t> Buzzer </a:t>
                      </a:r>
                      <a:endParaRPr lang="en-IN" sz="800" dirty="0"/>
                    </a:p>
                  </a:txBody>
                  <a:tcPr/>
                </a:tc>
                <a:tc>
                  <a:txBody>
                    <a:bodyPr/>
                    <a:lstStyle/>
                    <a:p>
                      <a:endParaRPr lang="en-IN" sz="700" dirty="0"/>
                    </a:p>
                  </a:txBody>
                  <a:tcPr/>
                </a:tc>
                <a:extLst>
                  <a:ext uri="{0D108BD9-81ED-4DB2-BD59-A6C34878D82A}">
                    <a16:rowId xmlns:a16="http://schemas.microsoft.com/office/drawing/2014/main" val="1689536097"/>
                  </a:ext>
                </a:extLst>
              </a:tr>
              <a:tr h="216718">
                <a:tc>
                  <a:txBody>
                    <a:bodyPr/>
                    <a:lstStyle/>
                    <a:p>
                      <a:r>
                        <a:rPr lang="en-US" sz="800" dirty="0"/>
                        <a:t>Bread board</a:t>
                      </a:r>
                      <a:endParaRPr lang="en-IN" sz="800" dirty="0"/>
                    </a:p>
                  </a:txBody>
                  <a:tcPr/>
                </a:tc>
                <a:tc>
                  <a:txBody>
                    <a:bodyPr/>
                    <a:lstStyle/>
                    <a:p>
                      <a:endParaRPr lang="en-IN" sz="700" dirty="0"/>
                    </a:p>
                  </a:txBody>
                  <a:tcPr/>
                </a:tc>
                <a:extLst>
                  <a:ext uri="{0D108BD9-81ED-4DB2-BD59-A6C34878D82A}">
                    <a16:rowId xmlns:a16="http://schemas.microsoft.com/office/drawing/2014/main" val="3465181023"/>
                  </a:ext>
                </a:extLst>
              </a:tr>
            </a:tbl>
          </a:graphicData>
        </a:graphic>
      </p:graphicFrame>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sz="3600" b="1">
                <a:solidFill>
                  <a:srgbClr val="C00000"/>
                </a:solidFill>
                <a:latin typeface="Arial"/>
                <a:ea typeface="Arial"/>
                <a:cs typeface="Arial"/>
                <a:sym typeface="Arial"/>
              </a:rPr>
              <a:t>Time line Chart </a:t>
            </a:r>
            <a:endParaRPr sz="3600" b="1">
              <a:solidFill>
                <a:srgbClr val="C00000"/>
              </a:solidFill>
              <a:latin typeface="Arial"/>
              <a:ea typeface="Arial"/>
              <a:cs typeface="Arial"/>
              <a:sym typeface="Arial"/>
            </a:endParaRPr>
          </a:p>
        </p:txBody>
      </p:sp>
      <p:sp>
        <p:nvSpPr>
          <p:cNvPr id="136" name="Google Shape;136;p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
        <p:nvSpPr>
          <p:cNvPr id="137" name="Google Shape;13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138" name="Google Shape;138;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endParaRPr sz="3600" b="1">
              <a:solidFill>
                <a:srgbClr val="C00000"/>
              </a:solidFill>
              <a:latin typeface="Arial"/>
              <a:ea typeface="Arial"/>
              <a:cs typeface="Arial"/>
              <a:sym typeface="Arial"/>
            </a:endParaRPr>
          </a:p>
        </p:txBody>
      </p:sp>
      <p:pic>
        <p:nvPicPr>
          <p:cNvPr id="139" name="Google Shape;139;p6"/>
          <p:cNvPicPr preferRelativeResize="0"/>
          <p:nvPr/>
        </p:nvPicPr>
        <p:blipFill rotWithShape="1">
          <a:blip r:embed="rId3">
            <a:alphaModFix/>
          </a:blip>
          <a:srcRect/>
          <a:stretch/>
        </p:blipFill>
        <p:spPr>
          <a:xfrm>
            <a:off x="1066800" y="1938753"/>
            <a:ext cx="10287000" cy="3533775"/>
          </a:xfrm>
          <a:prstGeom prst="rect">
            <a:avLst/>
          </a:prstGeom>
          <a:noFill/>
          <a:ln>
            <a:noFill/>
          </a:ln>
        </p:spPr>
      </p:pic>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7"/>
          <p:cNvSpPr txBox="1">
            <a:spLocks noGrp="1"/>
          </p:cNvSpPr>
          <p:nvPr>
            <p:ph type="title"/>
          </p:nvPr>
        </p:nvSpPr>
        <p:spPr>
          <a:xfrm>
            <a:off x="2095500" y="870775"/>
            <a:ext cx="7680300" cy="75802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3600" b="1" dirty="0">
                <a:solidFill>
                  <a:srgbClr val="C00000"/>
                </a:solidFill>
                <a:latin typeface="Century" panose="02040604050505020304" pitchFamily="18" charset="0"/>
                <a:ea typeface="Arial"/>
                <a:cs typeface="Arial"/>
                <a:sym typeface="Arial"/>
              </a:rPr>
              <a:t>Conceptual Designs</a:t>
            </a:r>
            <a:endParaRPr sz="3600" b="1" dirty="0">
              <a:solidFill>
                <a:srgbClr val="C00000"/>
              </a:solidFill>
              <a:latin typeface="Century" panose="02040604050505020304" pitchFamily="18" charset="0"/>
              <a:ea typeface="Arial"/>
              <a:cs typeface="Arial"/>
              <a:sym typeface="Arial"/>
            </a:endParaRPr>
          </a:p>
        </p:txBody>
      </p:sp>
      <p:sp>
        <p:nvSpPr>
          <p:cNvPr id="145" name="Google Shape;145;p7"/>
          <p:cNvSpPr txBox="1">
            <a:spLocks noGrp="1"/>
          </p:cNvSpPr>
          <p:nvPr>
            <p:ph type="body" idx="1"/>
          </p:nvPr>
        </p:nvSpPr>
        <p:spPr>
          <a:xfrm>
            <a:off x="423494" y="1772816"/>
            <a:ext cx="11084765" cy="4032447"/>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SzPts val="1946"/>
              <a:buNone/>
            </a:pPr>
            <a:endParaRPr sz="2400">
              <a:latin typeface="Times New Roman"/>
              <a:ea typeface="Times New Roman"/>
              <a:cs typeface="Times New Roman"/>
              <a:sym typeface="Times New Roman"/>
            </a:endParaRPr>
          </a:p>
        </p:txBody>
      </p:sp>
      <p:sp>
        <p:nvSpPr>
          <p:cNvPr id="146" name="Google Shape;14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7</a:t>
            </a:fld>
            <a:endParaRPr>
              <a:solidFill>
                <a:schemeClr val="lt1"/>
              </a:solidFill>
            </a:endParaRPr>
          </a:p>
        </p:txBody>
      </p:sp>
      <p:sp>
        <p:nvSpPr>
          <p:cNvPr id="147" name="Google Shape;1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pic>
        <p:nvPicPr>
          <p:cNvPr id="148" name="Google Shape;148;p7"/>
          <p:cNvPicPr preferRelativeResize="0"/>
          <p:nvPr/>
        </p:nvPicPr>
        <p:blipFill rotWithShape="1">
          <a:blip r:embed="rId3">
            <a:alphaModFix/>
          </a:blip>
          <a:srcRect/>
          <a:stretch/>
        </p:blipFill>
        <p:spPr>
          <a:xfrm>
            <a:off x="423494" y="1772814"/>
            <a:ext cx="5066348" cy="4032447"/>
          </a:xfrm>
          <a:prstGeom prst="rect">
            <a:avLst/>
          </a:prstGeom>
          <a:noFill/>
          <a:ln>
            <a:noFill/>
          </a:ln>
        </p:spPr>
      </p:pic>
      <p:pic>
        <p:nvPicPr>
          <p:cNvPr id="149" name="Google Shape;149;p7"/>
          <p:cNvPicPr preferRelativeResize="0"/>
          <p:nvPr/>
        </p:nvPicPr>
        <p:blipFill rotWithShape="1">
          <a:blip r:embed="rId4">
            <a:alphaModFix/>
          </a:blip>
          <a:srcRect/>
          <a:stretch/>
        </p:blipFill>
        <p:spPr>
          <a:xfrm>
            <a:off x="6128893" y="1772814"/>
            <a:ext cx="4740315" cy="4032447"/>
          </a:xfrm>
          <a:prstGeom prst="rect">
            <a:avLst/>
          </a:prstGeom>
          <a:noFill/>
          <a:ln>
            <a:noFill/>
          </a:ln>
        </p:spPr>
      </p:pic>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D72A387E-1ABF-7349-71FA-25E8ABF0CC0A}"/>
            </a:ext>
          </a:extLst>
        </p:cNvPr>
        <p:cNvGrpSpPr/>
        <p:nvPr/>
      </p:nvGrpSpPr>
      <p:grpSpPr>
        <a:xfrm>
          <a:off x="0" y="0"/>
          <a:ext cx="0" cy="0"/>
          <a:chOff x="0" y="0"/>
          <a:chExt cx="0" cy="0"/>
        </a:xfrm>
      </p:grpSpPr>
      <p:sp>
        <p:nvSpPr>
          <p:cNvPr id="154" name="Google Shape;154;p8">
            <a:extLst>
              <a:ext uri="{FF2B5EF4-FFF2-40B4-BE49-F238E27FC236}">
                <a16:creationId xmlns:a16="http://schemas.microsoft.com/office/drawing/2014/main" id="{B56CCD1F-810D-D947-1361-3236A7EF3D56}"/>
              </a:ext>
            </a:extLst>
          </p:cNvPr>
          <p:cNvSpPr txBox="1">
            <a:spLocks noGrp="1"/>
          </p:cNvSpPr>
          <p:nvPr>
            <p:ph type="title"/>
          </p:nvPr>
        </p:nvSpPr>
        <p:spPr>
          <a:xfrm>
            <a:off x="183182" y="1036948"/>
            <a:ext cx="10515600" cy="537381"/>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ts val="1800"/>
              <a:buNone/>
            </a:pPr>
            <a:r>
              <a:rPr lang="en-US" dirty="0">
                <a:latin typeface="Century" panose="02040604050505020304" pitchFamily="18" charset="0"/>
                <a:ea typeface="Arial"/>
                <a:cs typeface="Arial"/>
                <a:sym typeface="Arial"/>
              </a:rPr>
              <a:t>      </a:t>
            </a:r>
            <a:r>
              <a:rPr lang="en-US" dirty="0">
                <a:solidFill>
                  <a:srgbClr val="C00000"/>
                </a:solidFill>
                <a:latin typeface="Century" panose="02040604050505020304" pitchFamily="18" charset="0"/>
                <a:ea typeface="Arial"/>
                <a:cs typeface="Arial"/>
                <a:sym typeface="Arial"/>
              </a:rPr>
              <a:t>Literature Survey</a:t>
            </a:r>
            <a:endParaRPr dirty="0">
              <a:solidFill>
                <a:srgbClr val="C00000"/>
              </a:solidFill>
              <a:latin typeface="Century" panose="02040604050505020304" pitchFamily="18" charset="0"/>
              <a:ea typeface="Arial"/>
              <a:cs typeface="Arial"/>
              <a:sym typeface="Arial"/>
            </a:endParaRPr>
          </a:p>
        </p:txBody>
      </p:sp>
      <p:sp>
        <p:nvSpPr>
          <p:cNvPr id="156" name="Google Shape;156;p8">
            <a:extLst>
              <a:ext uri="{FF2B5EF4-FFF2-40B4-BE49-F238E27FC236}">
                <a16:creationId xmlns:a16="http://schemas.microsoft.com/office/drawing/2014/main" id="{A44BECE1-1030-E2D5-458D-EF1AAFADAD2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158" name="Google Shape;158;p8">
            <a:extLst>
              <a:ext uri="{FF2B5EF4-FFF2-40B4-BE49-F238E27FC236}">
                <a16:creationId xmlns:a16="http://schemas.microsoft.com/office/drawing/2014/main" id="{14ADDD3C-748F-C4B5-A1CD-34B0F5B94E6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graphicFrame>
        <p:nvGraphicFramePr>
          <p:cNvPr id="7" name="Table 6">
            <a:extLst>
              <a:ext uri="{FF2B5EF4-FFF2-40B4-BE49-F238E27FC236}">
                <a16:creationId xmlns:a16="http://schemas.microsoft.com/office/drawing/2014/main" id="{F50325FA-492F-7B29-3696-A575712CAF4D}"/>
              </a:ext>
            </a:extLst>
          </p:cNvPr>
          <p:cNvGraphicFramePr>
            <a:graphicFrameLocks noGrp="1"/>
          </p:cNvGraphicFramePr>
          <p:nvPr>
            <p:extLst>
              <p:ext uri="{D42A27DB-BD31-4B8C-83A1-F6EECF244321}">
                <p14:modId xmlns:p14="http://schemas.microsoft.com/office/powerpoint/2010/main" val="3855233600"/>
              </p:ext>
            </p:extLst>
          </p:nvPr>
        </p:nvGraphicFramePr>
        <p:xfrm>
          <a:off x="1046374" y="1668543"/>
          <a:ext cx="10307424" cy="4279770"/>
        </p:xfrm>
        <a:graphic>
          <a:graphicData uri="http://schemas.openxmlformats.org/drawingml/2006/table">
            <a:tbl>
              <a:tblPr firstRow="1" bandRow="1">
                <a:tableStyleId>{7DF18680-E054-41AD-8BC1-D1AEF772440D}</a:tableStyleId>
              </a:tblPr>
              <a:tblGrid>
                <a:gridCol w="1725939">
                  <a:extLst>
                    <a:ext uri="{9D8B030D-6E8A-4147-A177-3AD203B41FA5}">
                      <a16:colId xmlns:a16="http://schemas.microsoft.com/office/drawing/2014/main" val="1461796104"/>
                    </a:ext>
                  </a:extLst>
                </a:gridCol>
                <a:gridCol w="1716297">
                  <a:extLst>
                    <a:ext uri="{9D8B030D-6E8A-4147-A177-3AD203B41FA5}">
                      <a16:colId xmlns:a16="http://schemas.microsoft.com/office/drawing/2014/main" val="2167572472"/>
                    </a:ext>
                  </a:extLst>
                </a:gridCol>
                <a:gridCol w="1716297">
                  <a:extLst>
                    <a:ext uri="{9D8B030D-6E8A-4147-A177-3AD203B41FA5}">
                      <a16:colId xmlns:a16="http://schemas.microsoft.com/office/drawing/2014/main" val="3358834362"/>
                    </a:ext>
                  </a:extLst>
                </a:gridCol>
                <a:gridCol w="1716297">
                  <a:extLst>
                    <a:ext uri="{9D8B030D-6E8A-4147-A177-3AD203B41FA5}">
                      <a16:colId xmlns:a16="http://schemas.microsoft.com/office/drawing/2014/main" val="1819464010"/>
                    </a:ext>
                  </a:extLst>
                </a:gridCol>
                <a:gridCol w="1716297">
                  <a:extLst>
                    <a:ext uri="{9D8B030D-6E8A-4147-A177-3AD203B41FA5}">
                      <a16:colId xmlns:a16="http://schemas.microsoft.com/office/drawing/2014/main" val="6556406"/>
                    </a:ext>
                  </a:extLst>
                </a:gridCol>
                <a:gridCol w="1716297">
                  <a:extLst>
                    <a:ext uri="{9D8B030D-6E8A-4147-A177-3AD203B41FA5}">
                      <a16:colId xmlns:a16="http://schemas.microsoft.com/office/drawing/2014/main" val="1697523339"/>
                    </a:ext>
                  </a:extLst>
                </a:gridCol>
              </a:tblGrid>
              <a:tr h="10776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u="none" strike="noStrike" cap="none" dirty="0"/>
                        <a:t>Title with year of Publication </a:t>
                      </a:r>
                    </a:p>
                    <a:p>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u="none" strike="noStrike" cap="none" dirty="0"/>
                        <a:t>Authors </a:t>
                      </a:r>
                    </a:p>
                    <a:p>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u="none" strike="noStrike" cap="none" dirty="0"/>
                        <a:t>Methodology/ Algorithms</a:t>
                      </a:r>
                    </a:p>
                    <a:p>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u="none" strike="noStrike" cap="none" dirty="0"/>
                        <a:t>Key Results / Findings  </a:t>
                      </a:r>
                    </a:p>
                    <a:p>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u="none" strike="noStrike" cap="none" dirty="0"/>
                        <a:t>Remarks ( Based on your understating)</a:t>
                      </a:r>
                    </a:p>
                    <a:p>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u="none" strike="noStrike" cap="none" dirty="0"/>
                        <a:t>Link for article</a:t>
                      </a:r>
                    </a:p>
                    <a:p>
                      <a:endParaRPr lang="en-IN" sz="1600" dirty="0"/>
                    </a:p>
                  </a:txBody>
                  <a:tcPr/>
                </a:tc>
                <a:extLst>
                  <a:ext uri="{0D108BD9-81ED-4DB2-BD59-A6C34878D82A}">
                    <a16:rowId xmlns:a16="http://schemas.microsoft.com/office/drawing/2014/main" val="66362907"/>
                  </a:ext>
                </a:extLst>
              </a:tr>
              <a:tr h="160106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11/06/2024</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Random nerd tutorials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Connecting DC Motors to L298N using M-M jumper wires.</a:t>
                      </a:r>
                    </a:p>
                    <a:p>
                      <a:endParaRPr lang="en-IN" dirty="0"/>
                    </a:p>
                  </a:txBody>
                  <a:tcPr/>
                </a:tc>
                <a:tc>
                  <a:txBody>
                    <a:bodyPr/>
                    <a:lstStyle/>
                    <a:p>
                      <a:r>
                        <a:rPr lang="en-US" dirty="0"/>
                        <a:t>We will have to use 2 l298N boards for our quadcopter</a:t>
                      </a:r>
                      <a:endParaRPr lang="en-IN" dirty="0"/>
                    </a:p>
                  </a:txBody>
                  <a:tcPr/>
                </a:tc>
                <a:tc>
                  <a:txBody>
                    <a:bodyPr/>
                    <a:lstStyle/>
                    <a:p>
                      <a:r>
                        <a:rPr lang="en-US" dirty="0"/>
                        <a:t>Easy to understand the basic connection</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https://randomnerdtutorials.com/esp32-dc-motor-l298n-motor-driver-control-speed-direction/</a:t>
                      </a:r>
                    </a:p>
                    <a:p>
                      <a:endParaRPr lang="en-IN" dirty="0"/>
                    </a:p>
                  </a:txBody>
                  <a:tcPr/>
                </a:tc>
                <a:extLst>
                  <a:ext uri="{0D108BD9-81ED-4DB2-BD59-A6C34878D82A}">
                    <a16:rowId xmlns:a16="http://schemas.microsoft.com/office/drawing/2014/main" val="1988324427"/>
                  </a:ext>
                </a:extLst>
              </a:tr>
              <a:tr h="160106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Not mentioned</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Random nerd tutorials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Training the Esp32 Cam for image processing </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We have not explored it yet.</a:t>
                      </a:r>
                    </a:p>
                    <a:p>
                      <a:endParaRPr lang="en-IN" dirty="0"/>
                    </a:p>
                  </a:txBody>
                  <a:tcPr/>
                </a:tc>
                <a:tc>
                  <a:txBody>
                    <a:bodyPr/>
                    <a:lstStyle/>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https://randomnerdtutorials.com/esp32-cam-video-streaming-web-server-camera-home-assistant/</a:t>
                      </a:r>
                    </a:p>
                    <a:p>
                      <a:endParaRPr lang="en-IN" dirty="0"/>
                    </a:p>
                  </a:txBody>
                  <a:tcPr/>
                </a:tc>
                <a:extLst>
                  <a:ext uri="{0D108BD9-81ED-4DB2-BD59-A6C34878D82A}">
                    <a16:rowId xmlns:a16="http://schemas.microsoft.com/office/drawing/2014/main" val="1668519356"/>
                  </a:ext>
                </a:extLst>
              </a:tr>
            </a:tbl>
          </a:graphicData>
        </a:graphic>
      </p:graphicFrame>
    </p:spTree>
    <p:extLst>
      <p:ext uri="{BB962C8B-B14F-4D97-AF65-F5344CB8AC3E}">
        <p14:creationId xmlns:p14="http://schemas.microsoft.com/office/powerpoint/2010/main" val="113737335"/>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165" name="Google Shape;16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graphicFrame>
        <p:nvGraphicFramePr>
          <p:cNvPr id="166" name="Google Shape;166;p9"/>
          <p:cNvGraphicFramePr/>
          <p:nvPr>
            <p:extLst>
              <p:ext uri="{D42A27DB-BD31-4B8C-83A1-F6EECF244321}">
                <p14:modId xmlns:p14="http://schemas.microsoft.com/office/powerpoint/2010/main" val="1685162537"/>
              </p:ext>
            </p:extLst>
          </p:nvPr>
        </p:nvGraphicFramePr>
        <p:xfrm>
          <a:off x="838200" y="1043305"/>
          <a:ext cx="10147638" cy="4357326"/>
        </p:xfrm>
        <a:graphic>
          <a:graphicData uri="http://schemas.openxmlformats.org/drawingml/2006/table">
            <a:tbl>
              <a:tblPr>
                <a:tableStyleId>{6804DA4A-ABA7-42D8-B383-DA686238DA92}</a:tableStyleId>
              </a:tblPr>
              <a:tblGrid>
                <a:gridCol w="1384638">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1752600">
                  <a:extLst>
                    <a:ext uri="{9D8B030D-6E8A-4147-A177-3AD203B41FA5}">
                      <a16:colId xmlns:a16="http://schemas.microsoft.com/office/drawing/2014/main" val="20004"/>
                    </a:ext>
                  </a:extLst>
                </a:gridCol>
                <a:gridCol w="1752600">
                  <a:extLst>
                    <a:ext uri="{9D8B030D-6E8A-4147-A177-3AD203B41FA5}">
                      <a16:colId xmlns:a16="http://schemas.microsoft.com/office/drawing/2014/main" val="20005"/>
                    </a:ext>
                  </a:extLst>
                </a:gridCol>
              </a:tblGrid>
              <a:tr h="1332975">
                <a:tc>
                  <a:txBody>
                    <a:bodyPr/>
                    <a:lstStyle/>
                    <a:p>
                      <a:pPr marL="0" marR="0" lvl="0" indent="0" algn="l" rtl="0">
                        <a:lnSpc>
                          <a:spcPct val="100000"/>
                        </a:lnSpc>
                        <a:spcBef>
                          <a:spcPts val="0"/>
                        </a:spcBef>
                        <a:spcAft>
                          <a:spcPts val="0"/>
                        </a:spcAft>
                        <a:buNone/>
                      </a:pPr>
                      <a:r>
                        <a:rPr lang="en-US" sz="1400" u="none" strike="noStrike" cap="none" dirty="0"/>
                        <a:t>Not mentioned</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dirty="0"/>
                        <a:t>Random Nerd Tutorials</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Connecting Battery with Esp32 Cam using M-M jumper wires</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We will have to use voltage regulators and maybe use one more battery.</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dirty="0"/>
                        <a:t>https://randomnerdtutorials.com/power-esp32-esp8266-solar-panels-battery-level-monitoring/</a:t>
                      </a:r>
                      <a:endParaRPr dirty="0"/>
                    </a:p>
                  </a:txBody>
                  <a:tcPr marL="91450" marR="91450" marT="45725" marB="45725"/>
                </a:tc>
                <a:extLst>
                  <a:ext uri="{0D108BD9-81ED-4DB2-BD59-A6C34878D82A}">
                    <a16:rowId xmlns:a16="http://schemas.microsoft.com/office/drawing/2014/main" val="10000"/>
                  </a:ext>
                </a:extLst>
              </a:tr>
              <a:tr h="1540325">
                <a:tc>
                  <a:txBody>
                    <a:bodyPr/>
                    <a:lstStyle/>
                    <a:p>
                      <a:pPr marL="0" marR="0" lvl="0" indent="0" algn="l" rtl="0">
                        <a:lnSpc>
                          <a:spcPct val="100000"/>
                        </a:lnSpc>
                        <a:spcBef>
                          <a:spcPts val="0"/>
                        </a:spcBef>
                        <a:spcAft>
                          <a:spcPts val="0"/>
                        </a:spcAft>
                        <a:buNone/>
                      </a:pPr>
                      <a:r>
                        <a:rPr lang="en-US" sz="1400" u="none" strike="noStrike" cap="none" dirty="0"/>
                        <a:t>Not mentioned</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dirty="0"/>
                        <a:t>Random Nerd Tutorials</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Connecting IMU with Esp32 Cam and programming it.</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We will use specific colour wires designated for coding and use Uart for connecting.</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Esp32 cam module has different GPIO pins compared to esp32 Module. </a:t>
                      </a:r>
                      <a:br>
                        <a:rPr lang="en-US" sz="1400" u="none" strike="noStrike" cap="none"/>
                      </a:br>
                      <a:r>
                        <a:rPr lang="en-US" sz="1400" u="none" strike="noStrike" cap="none"/>
                        <a:t>We will have to do more research for the same.</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https://randomnerdtutorials.com/esp32-mpu-6050-accelerometer-gyroscope-arduino/</a:t>
                      </a:r>
                      <a:endParaRPr/>
                    </a:p>
                  </a:txBody>
                  <a:tcPr marL="91450" marR="91450" marT="45725" marB="45725"/>
                </a:tc>
                <a:extLst>
                  <a:ext uri="{0D108BD9-81ED-4DB2-BD59-A6C34878D82A}">
                    <a16:rowId xmlns:a16="http://schemas.microsoft.com/office/drawing/2014/main" val="10001"/>
                  </a:ext>
                </a:extLst>
              </a:tr>
              <a:tr h="1400746">
                <a:tc>
                  <a:txBody>
                    <a:bodyPr/>
                    <a:lstStyle/>
                    <a:p>
                      <a:pPr marL="0" marR="0" lvl="0" indent="0" algn="l" rtl="0">
                        <a:lnSpc>
                          <a:spcPct val="100000"/>
                        </a:lnSpc>
                        <a:spcBef>
                          <a:spcPts val="0"/>
                        </a:spcBef>
                        <a:spcAft>
                          <a:spcPts val="0"/>
                        </a:spcAft>
                        <a:buNone/>
                      </a:pPr>
                      <a:r>
                        <a:rPr lang="en-US" sz="1400" u="none" strike="noStrike" cap="none"/>
                        <a:t>22/03/2024</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dirty="0" err="1"/>
                        <a:t>Jobit</a:t>
                      </a:r>
                      <a:r>
                        <a:rPr lang="en-US" sz="1400" u="none" strike="noStrike" cap="none" dirty="0"/>
                        <a:t> Joseph</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Making a cost effective drone using readymade PCB and and DC motors with 55mm Propellers</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We can make that drone!</a:t>
                      </a:r>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Cost differences occurred and drone parts are banned.</a:t>
                      </a:r>
                      <a:endParaRPr/>
                    </a:p>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dirty="0"/>
                        <a:t>https://circuitdigest.com/microcontroller-projects/DIY-wifi-controlled-drone</a:t>
                      </a:r>
                      <a:endParaRPr dirty="0"/>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0"/>
          <p:cNvSpPr txBox="1">
            <a:spLocks noGrp="1"/>
          </p:cNvSpPr>
          <p:nvPr>
            <p:ph type="title"/>
          </p:nvPr>
        </p:nvSpPr>
        <p:spPr>
          <a:xfrm>
            <a:off x="2717670" y="0"/>
            <a:ext cx="7680300" cy="75802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3600" b="1">
                <a:solidFill>
                  <a:srgbClr val="C00000"/>
                </a:solidFill>
                <a:latin typeface="Arial"/>
                <a:ea typeface="Arial"/>
                <a:cs typeface="Arial"/>
                <a:sym typeface="Arial"/>
              </a:rPr>
              <a:t>Block Diagram of Project </a:t>
            </a:r>
            <a:endParaRPr sz="3600" b="1">
              <a:solidFill>
                <a:srgbClr val="C00000"/>
              </a:solidFill>
              <a:latin typeface="Arial"/>
              <a:ea typeface="Arial"/>
              <a:cs typeface="Arial"/>
              <a:sym typeface="Arial"/>
            </a:endParaRPr>
          </a:p>
        </p:txBody>
      </p:sp>
      <p:sp>
        <p:nvSpPr>
          <p:cNvPr id="172" name="Google Shape;17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10</a:t>
            </a:fld>
            <a:endParaRPr>
              <a:solidFill>
                <a:schemeClr val="lt1"/>
              </a:solidFill>
            </a:endParaRPr>
          </a:p>
        </p:txBody>
      </p:sp>
      <p:sp>
        <p:nvSpPr>
          <p:cNvPr id="173" name="Google Shape;17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174" name="Google Shape;174;p10"/>
          <p:cNvSpPr txBox="1"/>
          <p:nvPr/>
        </p:nvSpPr>
        <p:spPr>
          <a:xfrm>
            <a:off x="2301900" y="-67664"/>
            <a:ext cx="7680300" cy="758025"/>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4400"/>
              <a:buFont typeface="Calibri"/>
              <a:buNone/>
            </a:pPr>
            <a:endParaRPr sz="3600" b="1" i="0" u="none" strike="noStrike" cap="none">
              <a:solidFill>
                <a:srgbClr val="C00000"/>
              </a:solidFill>
              <a:latin typeface="Arial"/>
              <a:ea typeface="Arial"/>
              <a:cs typeface="Arial"/>
              <a:sym typeface="Arial"/>
            </a:endParaRPr>
          </a:p>
        </p:txBody>
      </p:sp>
      <p:sp>
        <p:nvSpPr>
          <p:cNvPr id="175" name="Google Shape;175;p10"/>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Calibri"/>
                <a:ea typeface="Calibri"/>
                <a:cs typeface="Calibri"/>
                <a:sym typeface="Calibri"/>
              </a:rPr>
              <a:t>10</a:t>
            </a:fld>
            <a:endParaRPr sz="1200" b="0" i="0" u="none" strike="noStrike" cap="none">
              <a:solidFill>
                <a:schemeClr val="lt1"/>
              </a:solidFill>
              <a:latin typeface="Calibri"/>
              <a:ea typeface="Calibri"/>
              <a:cs typeface="Calibri"/>
              <a:sym typeface="Calibri"/>
            </a:endParaRPr>
          </a:p>
        </p:txBody>
      </p:sp>
      <p:sp>
        <p:nvSpPr>
          <p:cNvPr id="176" name="Google Shape;176;p10"/>
          <p:cNvSpPr/>
          <p:nvPr/>
        </p:nvSpPr>
        <p:spPr>
          <a:xfrm>
            <a:off x="5260157" y="778473"/>
            <a:ext cx="1828800" cy="876693"/>
          </a:xfrm>
          <a:prstGeom prst="roundRect">
            <a:avLst>
              <a:gd name="adj" fmla="val 16667"/>
            </a:avLst>
          </a:prstGeom>
          <a:solidFill>
            <a:schemeClr val="accent1"/>
          </a:solidFill>
          <a:ln w="25400" cap="flat" cmpd="sng">
            <a:solidFill>
              <a:srgbClr val="2641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a:solidFill>
                  <a:schemeClr val="lt1"/>
                </a:solidFill>
              </a:rPr>
              <a:t>Household Trash </a:t>
            </a:r>
            <a:r>
              <a:rPr lang="en-US" sz="1400" b="0" i="0" u="none" strike="noStrike" cap="none">
                <a:solidFill>
                  <a:schemeClr val="lt1"/>
                </a:solidFill>
                <a:latin typeface="Arial"/>
                <a:ea typeface="Arial"/>
                <a:cs typeface="Arial"/>
                <a:sym typeface="Arial"/>
              </a:rPr>
              <a:t>Detecting drone</a:t>
            </a:r>
            <a:endParaRPr/>
          </a:p>
        </p:txBody>
      </p:sp>
      <p:cxnSp>
        <p:nvCxnSpPr>
          <p:cNvPr id="177" name="Google Shape;177;p10"/>
          <p:cNvCxnSpPr/>
          <p:nvPr/>
        </p:nvCxnSpPr>
        <p:spPr>
          <a:xfrm>
            <a:off x="6174557" y="1725105"/>
            <a:ext cx="0" cy="405353"/>
          </a:xfrm>
          <a:prstGeom prst="straightConnector1">
            <a:avLst/>
          </a:prstGeom>
          <a:noFill/>
          <a:ln w="9525" cap="flat" cmpd="sng">
            <a:solidFill>
              <a:srgbClr val="5597D3"/>
            </a:solidFill>
            <a:prstDash val="solid"/>
            <a:round/>
            <a:headEnd type="none" w="sm" len="sm"/>
            <a:tailEnd type="triangle" w="med" len="med"/>
          </a:ln>
        </p:spPr>
      </p:cxnSp>
      <p:sp>
        <p:nvSpPr>
          <p:cNvPr id="178" name="Google Shape;178;p10"/>
          <p:cNvSpPr/>
          <p:nvPr/>
        </p:nvSpPr>
        <p:spPr>
          <a:xfrm>
            <a:off x="5260157" y="2200397"/>
            <a:ext cx="1828800" cy="876693"/>
          </a:xfrm>
          <a:prstGeom prst="roundRect">
            <a:avLst>
              <a:gd name="adj" fmla="val 16667"/>
            </a:avLst>
          </a:prstGeom>
          <a:solidFill>
            <a:schemeClr val="accent1"/>
          </a:solidFill>
          <a:ln w="25400" cap="flat" cmpd="sng">
            <a:solidFill>
              <a:srgbClr val="2641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Arial"/>
                <a:ea typeface="Arial"/>
                <a:cs typeface="Arial"/>
                <a:sym typeface="Arial"/>
              </a:rPr>
              <a:t>ESP 32 Cam module – The brain of the entire drone</a:t>
            </a:r>
            <a:endParaRPr/>
          </a:p>
        </p:txBody>
      </p:sp>
      <p:cxnSp>
        <p:nvCxnSpPr>
          <p:cNvPr id="179" name="Google Shape;179;p10"/>
          <p:cNvCxnSpPr/>
          <p:nvPr/>
        </p:nvCxnSpPr>
        <p:spPr>
          <a:xfrm rot="10800000">
            <a:off x="4647414" y="2537381"/>
            <a:ext cx="416351" cy="0"/>
          </a:xfrm>
          <a:prstGeom prst="straightConnector1">
            <a:avLst/>
          </a:prstGeom>
          <a:noFill/>
          <a:ln w="9525" cap="flat" cmpd="sng">
            <a:solidFill>
              <a:srgbClr val="5597D3"/>
            </a:solidFill>
            <a:prstDash val="solid"/>
            <a:round/>
            <a:headEnd type="none" w="sm" len="sm"/>
            <a:tailEnd type="triangle" w="med" len="med"/>
          </a:ln>
        </p:spPr>
      </p:cxnSp>
      <p:cxnSp>
        <p:nvCxnSpPr>
          <p:cNvPr id="180" name="Google Shape;180;p10"/>
          <p:cNvCxnSpPr/>
          <p:nvPr/>
        </p:nvCxnSpPr>
        <p:spPr>
          <a:xfrm flipH="1">
            <a:off x="3973399" y="3077090"/>
            <a:ext cx="1090366" cy="773759"/>
          </a:xfrm>
          <a:prstGeom prst="straightConnector1">
            <a:avLst/>
          </a:prstGeom>
          <a:noFill/>
          <a:ln w="9525" cap="flat" cmpd="sng">
            <a:solidFill>
              <a:srgbClr val="5597D3"/>
            </a:solidFill>
            <a:prstDash val="solid"/>
            <a:round/>
            <a:headEnd type="none" w="sm" len="sm"/>
            <a:tailEnd type="triangle" w="med" len="med"/>
          </a:ln>
        </p:spPr>
      </p:cxnSp>
      <p:cxnSp>
        <p:nvCxnSpPr>
          <p:cNvPr id="181" name="Google Shape;181;p10"/>
          <p:cNvCxnSpPr/>
          <p:nvPr/>
        </p:nvCxnSpPr>
        <p:spPr>
          <a:xfrm>
            <a:off x="5860724" y="5035787"/>
            <a:ext cx="989814" cy="0"/>
          </a:xfrm>
          <a:prstGeom prst="straightConnector1">
            <a:avLst/>
          </a:prstGeom>
          <a:noFill/>
          <a:ln w="9525" cap="flat" cmpd="sng">
            <a:solidFill>
              <a:srgbClr val="5597D3"/>
            </a:solidFill>
            <a:prstDash val="solid"/>
            <a:round/>
            <a:headEnd type="none" w="sm" len="sm"/>
            <a:tailEnd type="triangle" w="med" len="med"/>
          </a:ln>
        </p:spPr>
      </p:cxnSp>
      <p:cxnSp>
        <p:nvCxnSpPr>
          <p:cNvPr id="182" name="Google Shape;182;p10"/>
          <p:cNvCxnSpPr/>
          <p:nvPr/>
        </p:nvCxnSpPr>
        <p:spPr>
          <a:xfrm flipH="1">
            <a:off x="4855589" y="3275029"/>
            <a:ext cx="844485" cy="1155569"/>
          </a:xfrm>
          <a:prstGeom prst="straightConnector1">
            <a:avLst/>
          </a:prstGeom>
          <a:noFill/>
          <a:ln w="9525" cap="flat" cmpd="sng">
            <a:solidFill>
              <a:srgbClr val="5597D3"/>
            </a:solidFill>
            <a:prstDash val="solid"/>
            <a:round/>
            <a:headEnd type="none" w="sm" len="sm"/>
            <a:tailEnd type="triangle" w="med" len="med"/>
          </a:ln>
        </p:spPr>
      </p:cxnSp>
      <p:sp>
        <p:nvSpPr>
          <p:cNvPr id="183" name="Google Shape;183;p10"/>
          <p:cNvSpPr/>
          <p:nvPr/>
        </p:nvSpPr>
        <p:spPr>
          <a:xfrm>
            <a:off x="2622222" y="2130458"/>
            <a:ext cx="1828800" cy="876693"/>
          </a:xfrm>
          <a:prstGeom prst="roundRect">
            <a:avLst>
              <a:gd name="adj" fmla="val 16667"/>
            </a:avLst>
          </a:prstGeom>
          <a:solidFill>
            <a:schemeClr val="accent1"/>
          </a:solidFill>
          <a:ln w="25400" cap="flat" cmpd="sng">
            <a:solidFill>
              <a:srgbClr val="2641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Arial"/>
                <a:ea typeface="Arial"/>
                <a:cs typeface="Arial"/>
                <a:sym typeface="Arial"/>
              </a:rPr>
              <a:t>MPU 6050 – Provides balance and has inbuilt accelerometer</a:t>
            </a:r>
            <a:endParaRPr/>
          </a:p>
        </p:txBody>
      </p:sp>
      <p:sp>
        <p:nvSpPr>
          <p:cNvPr id="184" name="Google Shape;184;p10"/>
          <p:cNvSpPr/>
          <p:nvPr/>
        </p:nvSpPr>
        <p:spPr>
          <a:xfrm>
            <a:off x="1948207" y="3412503"/>
            <a:ext cx="1828800" cy="876693"/>
          </a:xfrm>
          <a:prstGeom prst="roundRect">
            <a:avLst>
              <a:gd name="adj" fmla="val 16667"/>
            </a:avLst>
          </a:prstGeom>
          <a:solidFill>
            <a:schemeClr val="accent1"/>
          </a:solidFill>
          <a:ln w="25400" cap="flat" cmpd="sng">
            <a:solidFill>
              <a:srgbClr val="2641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Arial"/>
                <a:ea typeface="Arial"/>
                <a:cs typeface="Arial"/>
                <a:sym typeface="Arial"/>
              </a:rPr>
              <a:t>TP 4056 – Helps in safe and efficient charging of lithium ion batteries</a:t>
            </a:r>
            <a:endParaRPr/>
          </a:p>
        </p:txBody>
      </p:sp>
      <p:sp>
        <p:nvSpPr>
          <p:cNvPr id="185" name="Google Shape;185;p10"/>
          <p:cNvSpPr/>
          <p:nvPr/>
        </p:nvSpPr>
        <p:spPr>
          <a:xfrm>
            <a:off x="7088957" y="4597441"/>
            <a:ext cx="1828800" cy="876693"/>
          </a:xfrm>
          <a:prstGeom prst="roundRect">
            <a:avLst>
              <a:gd name="adj" fmla="val 16667"/>
            </a:avLst>
          </a:prstGeom>
          <a:solidFill>
            <a:schemeClr val="accent1"/>
          </a:solidFill>
          <a:ln w="25400" cap="flat" cmpd="sng">
            <a:solidFill>
              <a:srgbClr val="2641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0" i="0" u="none" strike="noStrike" cap="none">
                <a:solidFill>
                  <a:schemeClr val="lt1"/>
                </a:solidFill>
                <a:latin typeface="Arial"/>
                <a:ea typeface="Arial"/>
                <a:cs typeface="Arial"/>
                <a:sym typeface="Arial"/>
              </a:rPr>
              <a:t>Motor drivers – Helps in controlling the motors instructing each motor </a:t>
            </a:r>
            <a:endParaRPr/>
          </a:p>
        </p:txBody>
      </p:sp>
      <p:sp>
        <p:nvSpPr>
          <p:cNvPr id="186" name="Google Shape;186;p10"/>
          <p:cNvSpPr/>
          <p:nvPr/>
        </p:nvSpPr>
        <p:spPr>
          <a:xfrm>
            <a:off x="3871274" y="4597441"/>
            <a:ext cx="1828800" cy="876693"/>
          </a:xfrm>
          <a:prstGeom prst="roundRect">
            <a:avLst>
              <a:gd name="adj" fmla="val 16667"/>
            </a:avLst>
          </a:prstGeom>
          <a:solidFill>
            <a:schemeClr val="accent1"/>
          </a:solidFill>
          <a:ln w="25400" cap="flat" cmpd="sng">
            <a:solidFill>
              <a:srgbClr val="2641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0" i="0" u="none" strike="noStrike" cap="none">
                <a:solidFill>
                  <a:schemeClr val="lt1"/>
                </a:solidFill>
                <a:latin typeface="Arial"/>
                <a:ea typeface="Arial"/>
                <a:cs typeface="Arial"/>
                <a:sym typeface="Arial"/>
              </a:rPr>
              <a:t>720 coreless motors – Gives the required amount of thrust for the drone to fly</a:t>
            </a:r>
            <a:endParaRPr/>
          </a:p>
        </p:txBody>
      </p:sp>
      <p:cxnSp>
        <p:nvCxnSpPr>
          <p:cNvPr id="187" name="Google Shape;187;p10"/>
          <p:cNvCxnSpPr/>
          <p:nvPr/>
        </p:nvCxnSpPr>
        <p:spPr>
          <a:xfrm>
            <a:off x="7285349" y="2537381"/>
            <a:ext cx="1325251" cy="737648"/>
          </a:xfrm>
          <a:prstGeom prst="straightConnector1">
            <a:avLst/>
          </a:prstGeom>
          <a:noFill/>
          <a:ln w="9525" cap="flat" cmpd="sng">
            <a:solidFill>
              <a:srgbClr val="5597D3"/>
            </a:solidFill>
            <a:prstDash val="solid"/>
            <a:round/>
            <a:headEnd type="none" w="sm" len="sm"/>
            <a:tailEnd type="triangle" w="med" len="med"/>
          </a:ln>
        </p:spPr>
      </p:cxnSp>
      <p:sp>
        <p:nvSpPr>
          <p:cNvPr id="188" name="Google Shape;188;p10"/>
          <p:cNvSpPr/>
          <p:nvPr/>
        </p:nvSpPr>
        <p:spPr>
          <a:xfrm>
            <a:off x="8806992" y="3059542"/>
            <a:ext cx="1828800" cy="876693"/>
          </a:xfrm>
          <a:prstGeom prst="roundRect">
            <a:avLst>
              <a:gd name="adj" fmla="val 16667"/>
            </a:avLst>
          </a:prstGeom>
          <a:solidFill>
            <a:schemeClr val="accent1"/>
          </a:solidFill>
          <a:ln w="25400" cap="flat" cmpd="sng">
            <a:solidFill>
              <a:srgbClr val="2641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dirty="0" err="1">
                <a:solidFill>
                  <a:schemeClr val="lt1"/>
                </a:solidFill>
              </a:rPr>
              <a:t>YOLO,</a:t>
            </a:r>
            <a:r>
              <a:rPr lang="en-US" sz="1400" b="0" i="0" u="none" strike="noStrike" cap="none" dirty="0" err="1">
                <a:solidFill>
                  <a:schemeClr val="lt1"/>
                </a:solidFill>
                <a:latin typeface="Arial"/>
                <a:ea typeface="Arial"/>
                <a:cs typeface="Arial"/>
                <a:sym typeface="Arial"/>
              </a:rPr>
              <a:t>OpenCV</a:t>
            </a:r>
            <a:r>
              <a:rPr lang="en-US" sz="1400" b="0" i="0" u="none" strike="noStrike" cap="none" dirty="0">
                <a:solidFill>
                  <a:schemeClr val="lt1"/>
                </a:solidFill>
                <a:latin typeface="Arial"/>
                <a:ea typeface="Arial"/>
                <a:cs typeface="Arial"/>
                <a:sym typeface="Arial"/>
              </a:rPr>
              <a:t> – Allows the Board to analyze the picture as seen in camera </a:t>
            </a:r>
            <a:endParaRPr dirty="0"/>
          </a:p>
        </p:txBody>
      </p:sp>
      <p:cxnSp>
        <p:nvCxnSpPr>
          <p:cNvPr id="2" name="Google Shape;187;p10">
            <a:extLst>
              <a:ext uri="{FF2B5EF4-FFF2-40B4-BE49-F238E27FC236}">
                <a16:creationId xmlns:a16="http://schemas.microsoft.com/office/drawing/2014/main" id="{ED84027E-8928-6B37-C0F8-BA002371C2B2}"/>
              </a:ext>
            </a:extLst>
          </p:cNvPr>
          <p:cNvCxnSpPr/>
          <p:nvPr/>
        </p:nvCxnSpPr>
        <p:spPr>
          <a:xfrm>
            <a:off x="5456549" y="2829763"/>
            <a:ext cx="1325251" cy="737648"/>
          </a:xfrm>
          <a:prstGeom prst="straightConnector1">
            <a:avLst/>
          </a:prstGeom>
          <a:noFill/>
          <a:ln w="9525" cap="flat" cmpd="sng">
            <a:solidFill>
              <a:srgbClr val="5597D3"/>
            </a:solidFill>
            <a:prstDash val="solid"/>
            <a:round/>
            <a:headEnd type="none" w="sm" len="sm"/>
            <a:tailEnd type="triangle" w="med" len="med"/>
          </a:ln>
        </p:spPr>
      </p:cxnSp>
      <p:sp>
        <p:nvSpPr>
          <p:cNvPr id="3" name="Google Shape;188;p10">
            <a:extLst>
              <a:ext uri="{FF2B5EF4-FFF2-40B4-BE49-F238E27FC236}">
                <a16:creationId xmlns:a16="http://schemas.microsoft.com/office/drawing/2014/main" id="{84FA82E4-1A78-54D0-0EC9-FBDBB27E1174}"/>
              </a:ext>
            </a:extLst>
          </p:cNvPr>
          <p:cNvSpPr/>
          <p:nvPr/>
        </p:nvSpPr>
        <p:spPr>
          <a:xfrm>
            <a:off x="6978192" y="3351924"/>
            <a:ext cx="1828800" cy="876693"/>
          </a:xfrm>
          <a:prstGeom prst="roundRect">
            <a:avLst>
              <a:gd name="adj" fmla="val 16667"/>
            </a:avLst>
          </a:prstGeom>
          <a:solidFill>
            <a:schemeClr val="accent1"/>
          </a:solidFill>
          <a:ln w="25400" cap="flat" cmpd="sng">
            <a:solidFill>
              <a:srgbClr val="2641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dirty="0">
                <a:solidFill>
                  <a:schemeClr val="bg1"/>
                </a:solidFill>
              </a:rPr>
              <a:t>Control the buzzer when image is detected.</a:t>
            </a:r>
            <a:endParaRPr dirty="0">
              <a:solidFill>
                <a:schemeClr val="bg1"/>
              </a:solidFill>
            </a:endParaRPr>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88B2A256-1EF5-B445-D028-4B1A9239885D}"/>
            </a:ext>
          </a:extLst>
        </p:cNvPr>
        <p:cNvGrpSpPr/>
        <p:nvPr/>
      </p:nvGrpSpPr>
      <p:grpSpPr>
        <a:xfrm>
          <a:off x="0" y="0"/>
          <a:ext cx="0" cy="0"/>
          <a:chOff x="0" y="0"/>
          <a:chExt cx="0" cy="0"/>
        </a:xfrm>
      </p:grpSpPr>
      <p:sp>
        <p:nvSpPr>
          <p:cNvPr id="193" name="Google Shape;193;p11">
            <a:extLst>
              <a:ext uri="{FF2B5EF4-FFF2-40B4-BE49-F238E27FC236}">
                <a16:creationId xmlns:a16="http://schemas.microsoft.com/office/drawing/2014/main" id="{A1B2E146-E0D1-DB2C-18C3-C86C376A6A2E}"/>
              </a:ext>
            </a:extLst>
          </p:cNvPr>
          <p:cNvSpPr txBox="1">
            <a:spLocks noGrp="1"/>
          </p:cNvSpPr>
          <p:nvPr>
            <p:ph type="title"/>
          </p:nvPr>
        </p:nvSpPr>
        <p:spPr>
          <a:xfrm>
            <a:off x="4373216" y="407504"/>
            <a:ext cx="4522305" cy="46503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sz="3600" b="1" dirty="0">
                <a:solidFill>
                  <a:srgbClr val="C00000"/>
                </a:solidFill>
                <a:latin typeface="Arial"/>
                <a:ea typeface="Arial"/>
                <a:cs typeface="Arial"/>
                <a:sym typeface="Arial"/>
              </a:rPr>
              <a:t>Project Cost  Sheet </a:t>
            </a:r>
            <a:endParaRPr sz="3600" b="1" dirty="0">
              <a:solidFill>
                <a:srgbClr val="C00000"/>
              </a:solidFill>
              <a:latin typeface="Arial"/>
              <a:ea typeface="Arial"/>
              <a:cs typeface="Arial"/>
              <a:sym typeface="Arial"/>
            </a:endParaRPr>
          </a:p>
        </p:txBody>
      </p:sp>
      <p:sp>
        <p:nvSpPr>
          <p:cNvPr id="194" name="Google Shape;194;p11">
            <a:extLst>
              <a:ext uri="{FF2B5EF4-FFF2-40B4-BE49-F238E27FC236}">
                <a16:creationId xmlns:a16="http://schemas.microsoft.com/office/drawing/2014/main" id="{8E22F6A8-E379-D564-2F9D-64B2556CD04E}"/>
              </a:ext>
            </a:extLst>
          </p:cNvPr>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
        <p:nvSpPr>
          <p:cNvPr id="195" name="Google Shape;195;p11">
            <a:extLst>
              <a:ext uri="{FF2B5EF4-FFF2-40B4-BE49-F238E27FC236}">
                <a16:creationId xmlns:a16="http://schemas.microsoft.com/office/drawing/2014/main" id="{0A42B008-4F2F-4032-409B-D82E7684A6A1}"/>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dirty="0"/>
          </a:p>
        </p:txBody>
      </p:sp>
      <p:graphicFrame>
        <p:nvGraphicFramePr>
          <p:cNvPr id="3" name="Table 2">
            <a:extLst>
              <a:ext uri="{FF2B5EF4-FFF2-40B4-BE49-F238E27FC236}">
                <a16:creationId xmlns:a16="http://schemas.microsoft.com/office/drawing/2014/main" id="{E7668F54-CB2B-B9E9-4105-BAD3B646DAF4}"/>
              </a:ext>
            </a:extLst>
          </p:cNvPr>
          <p:cNvGraphicFramePr>
            <a:graphicFrameLocks noGrp="1"/>
          </p:cNvGraphicFramePr>
          <p:nvPr>
            <p:extLst>
              <p:ext uri="{D42A27DB-BD31-4B8C-83A1-F6EECF244321}">
                <p14:modId xmlns:p14="http://schemas.microsoft.com/office/powerpoint/2010/main" val="4106506786"/>
              </p:ext>
            </p:extLst>
          </p:nvPr>
        </p:nvGraphicFramePr>
        <p:xfrm>
          <a:off x="0" y="1053548"/>
          <a:ext cx="12192000" cy="5111783"/>
        </p:xfrm>
        <a:graphic>
          <a:graphicData uri="http://schemas.openxmlformats.org/drawingml/2006/table">
            <a:tbl>
              <a:tblPr firstRow="1" bandRow="1">
                <a:tableStyleId>{7DF18680-E054-41AD-8BC1-D1AEF772440D}</a:tableStyleId>
              </a:tblPr>
              <a:tblGrid>
                <a:gridCol w="3098458">
                  <a:extLst>
                    <a:ext uri="{9D8B030D-6E8A-4147-A177-3AD203B41FA5}">
                      <a16:colId xmlns:a16="http://schemas.microsoft.com/office/drawing/2014/main" val="3624431177"/>
                    </a:ext>
                  </a:extLst>
                </a:gridCol>
                <a:gridCol w="4546771">
                  <a:extLst>
                    <a:ext uri="{9D8B030D-6E8A-4147-A177-3AD203B41FA5}">
                      <a16:colId xmlns:a16="http://schemas.microsoft.com/office/drawing/2014/main" val="93686652"/>
                    </a:ext>
                  </a:extLst>
                </a:gridCol>
                <a:gridCol w="4546771">
                  <a:extLst>
                    <a:ext uri="{9D8B030D-6E8A-4147-A177-3AD203B41FA5}">
                      <a16:colId xmlns:a16="http://schemas.microsoft.com/office/drawing/2014/main" val="3712244318"/>
                    </a:ext>
                  </a:extLst>
                </a:gridCol>
              </a:tblGrid>
              <a:tr h="63596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800" b="1" i="0" u="none" strike="noStrike" cap="none" dirty="0">
                          <a:solidFill>
                            <a:schemeClr val="lt1"/>
                          </a:solidFill>
                          <a:effectLst/>
                          <a:latin typeface="+mn-lt"/>
                          <a:ea typeface="+mn-ea"/>
                          <a:cs typeface="+mn-cs"/>
                          <a:sym typeface="Arial"/>
                        </a:rPr>
                        <a:t>Parts name </a:t>
                      </a:r>
                      <a:endParaRPr lang="en-IN" sz="1800" dirty="0"/>
                    </a:p>
                    <a:p>
                      <a:endParaRPr lang="en-IN" sz="18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800" dirty="0">
                          <a:solidFill>
                            <a:srgbClr val="000000"/>
                          </a:solidFill>
                          <a:effectLst/>
                          <a:latin typeface="Times New Roman" panose="02020603050405020304" pitchFamily="18" charset="0"/>
                          <a:ea typeface="Arial" panose="020B0604020202020204" pitchFamily="34" charset="0"/>
                        </a:rPr>
                        <a:t>Specifications</a:t>
                      </a:r>
                      <a:endParaRPr lang="en-IN" sz="1800" dirty="0">
                        <a:effectLst/>
                        <a:latin typeface="Arial" panose="020B0604020202020204" pitchFamily="34" charset="0"/>
                        <a:ea typeface="Arial" panose="020B0604020202020204" pitchFamily="34" charset="0"/>
                      </a:endParaRPr>
                    </a:p>
                    <a:p>
                      <a:endParaRPr lang="en-IN" sz="18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800" dirty="0">
                          <a:effectLst/>
                          <a:latin typeface="Times New Roman" panose="02020603050405020304" pitchFamily="18" charset="0"/>
                          <a:ea typeface="Arial" panose="020B0604020202020204" pitchFamily="34" charset="0"/>
                        </a:rPr>
                        <a:t>Cost (</a:t>
                      </a:r>
                      <a:r>
                        <a:rPr lang="en-IN" sz="1800" dirty="0" err="1">
                          <a:effectLst/>
                          <a:latin typeface="Times New Roman" panose="02020603050405020304" pitchFamily="18" charset="0"/>
                          <a:ea typeface="Arial" panose="020B0604020202020204" pitchFamily="34" charset="0"/>
                        </a:rPr>
                        <a:t>Aprox</a:t>
                      </a:r>
                      <a:r>
                        <a:rPr lang="en-IN" sz="1800" dirty="0">
                          <a:effectLst/>
                          <a:latin typeface="Times New Roman" panose="02020603050405020304" pitchFamily="18" charset="0"/>
                          <a:ea typeface="Arial" panose="020B0604020202020204" pitchFamily="34" charset="0"/>
                        </a:rPr>
                        <a:t>)</a:t>
                      </a:r>
                      <a:endParaRPr lang="en-IN" sz="1800" dirty="0">
                        <a:effectLst/>
                        <a:latin typeface="Arial" panose="020B0604020202020204" pitchFamily="34" charset="0"/>
                        <a:ea typeface="Arial" panose="020B0604020202020204" pitchFamily="34" charset="0"/>
                      </a:endParaRPr>
                    </a:p>
                    <a:p>
                      <a:endParaRPr lang="en-IN" sz="1800" dirty="0"/>
                    </a:p>
                  </a:txBody>
                  <a:tcPr/>
                </a:tc>
                <a:extLst>
                  <a:ext uri="{0D108BD9-81ED-4DB2-BD59-A6C34878D82A}">
                    <a16:rowId xmlns:a16="http://schemas.microsoft.com/office/drawing/2014/main" val="1472666732"/>
                  </a:ext>
                </a:extLst>
              </a:tr>
              <a:tr h="2422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0" u="none" strike="noStrike" cap="none" dirty="0">
                          <a:solidFill>
                            <a:schemeClr val="dk1"/>
                          </a:solidFill>
                          <a:effectLst/>
                          <a:latin typeface="+mn-lt"/>
                          <a:ea typeface="+mn-ea"/>
                          <a:cs typeface="+mn-cs"/>
                          <a:sym typeface="Arial"/>
                        </a:rPr>
                        <a:t>CP2102 UART </a:t>
                      </a:r>
                      <a:r>
                        <a:rPr lang="en-US" sz="1000" b="1" i="0" u="none" strike="noStrike" cap="none" dirty="0">
                          <a:solidFill>
                            <a:schemeClr val="dk1"/>
                          </a:solidFill>
                          <a:effectLst/>
                          <a:latin typeface="+mn-lt"/>
                          <a:ea typeface="+mn-ea"/>
                          <a:cs typeface="+mn-cs"/>
                          <a:sym typeface="Arial"/>
                        </a:rPr>
                        <a:t>X1</a:t>
                      </a:r>
                      <a:endParaRPr lang="en-IN" sz="1000" b="0" i="0" u="none" strike="noStrike" cap="none" dirty="0">
                        <a:solidFill>
                          <a:schemeClr val="dk1"/>
                        </a:solidFill>
                        <a:effectLst/>
                        <a:latin typeface="+mn-lt"/>
                        <a:ea typeface="+mn-ea"/>
                        <a:cs typeface="+mn-cs"/>
                        <a:sym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effectLst/>
                          <a:latin typeface="Times New Roman" panose="02020603050405020304" pitchFamily="18" charset="0"/>
                          <a:ea typeface="Arial" panose="020B0604020202020204" pitchFamily="34" charset="0"/>
                        </a:rPr>
                        <a:t>Bridges USB and UART interfaces</a:t>
                      </a:r>
                    </a:p>
                  </a:txBody>
                  <a:tcPr/>
                </a:tc>
                <a:tc>
                  <a:txBody>
                    <a:bodyPr/>
                    <a:lstStyle/>
                    <a:p>
                      <a:r>
                        <a:rPr lang="en-US" sz="1000" dirty="0"/>
                        <a:t>185</a:t>
                      </a:r>
                      <a:endParaRPr lang="en-IN" sz="1000" dirty="0"/>
                    </a:p>
                  </a:txBody>
                  <a:tcPr/>
                </a:tc>
                <a:extLst>
                  <a:ext uri="{0D108BD9-81ED-4DB2-BD59-A6C34878D82A}">
                    <a16:rowId xmlns:a16="http://schemas.microsoft.com/office/drawing/2014/main" val="1906499845"/>
                  </a:ext>
                </a:extLst>
              </a:tr>
              <a:tr h="2422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cap="none" dirty="0">
                          <a:solidFill>
                            <a:schemeClr val="dk1"/>
                          </a:solidFill>
                          <a:effectLst/>
                          <a:latin typeface="+mn-lt"/>
                          <a:ea typeface="+mn-ea"/>
                          <a:cs typeface="+mn-cs"/>
                          <a:sym typeface="Arial"/>
                        </a:rPr>
                        <a:t>MPU60650X1</a:t>
                      </a:r>
                      <a:endParaRPr lang="en-IN" sz="10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dirty="0">
                          <a:effectLst/>
                          <a:latin typeface="Times New Roman" panose="02020603050405020304" pitchFamily="18" charset="0"/>
                          <a:ea typeface="Arial" panose="020B0604020202020204" pitchFamily="34" charset="0"/>
                        </a:rPr>
                        <a:t>Motion tracking device (imu)</a:t>
                      </a:r>
                      <a:endParaRPr lang="en-IN" sz="1000" dirty="0">
                        <a:effectLst/>
                        <a:latin typeface="Arial" panose="020B0604020202020204" pitchFamily="34" charset="0"/>
                        <a:ea typeface="Arial" panose="020B0604020202020204" pitchFamily="34" charset="0"/>
                      </a:endParaRPr>
                    </a:p>
                  </a:txBody>
                  <a:tcPr/>
                </a:tc>
                <a:tc>
                  <a:txBody>
                    <a:bodyPr/>
                    <a:lstStyle/>
                    <a:p>
                      <a:r>
                        <a:rPr lang="en-US" sz="1000" dirty="0"/>
                        <a:t>225</a:t>
                      </a:r>
                      <a:endParaRPr lang="en-IN" sz="1000" dirty="0"/>
                    </a:p>
                  </a:txBody>
                  <a:tcPr/>
                </a:tc>
                <a:extLst>
                  <a:ext uri="{0D108BD9-81ED-4DB2-BD59-A6C34878D82A}">
                    <a16:rowId xmlns:a16="http://schemas.microsoft.com/office/drawing/2014/main" val="2561844806"/>
                  </a:ext>
                </a:extLst>
              </a:tr>
              <a:tr h="2422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effectLst/>
                          <a:latin typeface="Arial" panose="020B0604020202020204" pitchFamily="34" charset="0"/>
                          <a:ea typeface="Arial" panose="020B0604020202020204" pitchFamily="34" charset="0"/>
                        </a:rPr>
                        <a:t>TP4056 X1</a:t>
                      </a:r>
                      <a:endParaRPr lang="en-IN" sz="1000" dirty="0">
                        <a:effectLst/>
                        <a:latin typeface="Arial" panose="020B0604020202020204" pitchFamily="34" charset="0"/>
                        <a:ea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dirty="0">
                          <a:effectLst/>
                          <a:latin typeface="Times New Roman" panose="02020603050405020304" pitchFamily="18" charset="0"/>
                          <a:ea typeface="Arial" panose="020B0604020202020204" pitchFamily="34" charset="0"/>
                        </a:rPr>
                        <a:t>Battery charger</a:t>
                      </a:r>
                      <a:endParaRPr lang="en-IN" sz="1000" dirty="0">
                        <a:effectLst/>
                        <a:latin typeface="Arial" panose="020B0604020202020204" pitchFamily="34" charset="0"/>
                        <a:ea typeface="Arial" panose="020B0604020202020204" pitchFamily="34" charset="0"/>
                      </a:endParaRPr>
                    </a:p>
                  </a:txBody>
                  <a:tcPr/>
                </a:tc>
                <a:tc>
                  <a:txBody>
                    <a:bodyPr/>
                    <a:lstStyle/>
                    <a:p>
                      <a:r>
                        <a:rPr lang="en-US" sz="1000" dirty="0"/>
                        <a:t>32</a:t>
                      </a:r>
                      <a:endParaRPr lang="en-IN" sz="1000" dirty="0"/>
                    </a:p>
                  </a:txBody>
                  <a:tcPr/>
                </a:tc>
                <a:extLst>
                  <a:ext uri="{0D108BD9-81ED-4DB2-BD59-A6C34878D82A}">
                    <a16:rowId xmlns:a16="http://schemas.microsoft.com/office/drawing/2014/main" val="1641265281"/>
                  </a:ext>
                </a:extLst>
              </a:tr>
              <a:tr h="39811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cap="none" dirty="0">
                          <a:solidFill>
                            <a:schemeClr val="dk1"/>
                          </a:solidFill>
                          <a:effectLst/>
                          <a:latin typeface="+mn-lt"/>
                          <a:ea typeface="+mn-ea"/>
                          <a:cs typeface="+mn-cs"/>
                          <a:sym typeface="Arial"/>
                        </a:rPr>
                        <a:t>Slide switch</a:t>
                      </a:r>
                      <a:endParaRPr lang="en-IN" sz="10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dirty="0">
                          <a:effectLst/>
                          <a:latin typeface="Times New Roman" panose="02020603050405020304" pitchFamily="18" charset="0"/>
                          <a:ea typeface="Arial" panose="020B0604020202020204" pitchFamily="34" charset="0"/>
                        </a:rPr>
                        <a:t>Helps in turning on/of the drone</a:t>
                      </a:r>
                      <a:endParaRPr lang="en-IN" sz="1000" dirty="0">
                        <a:effectLst/>
                        <a:latin typeface="Arial" panose="020B0604020202020204" pitchFamily="34" charset="0"/>
                        <a:ea typeface="Arial" panose="020B0604020202020204" pitchFamily="34" charset="0"/>
                      </a:endParaRPr>
                    </a:p>
                    <a:p>
                      <a:endParaRPr lang="en-IN" sz="1000" dirty="0"/>
                    </a:p>
                  </a:txBody>
                  <a:tcPr/>
                </a:tc>
                <a:tc>
                  <a:txBody>
                    <a:bodyPr/>
                    <a:lstStyle/>
                    <a:p>
                      <a:r>
                        <a:rPr lang="en-US" sz="1000" dirty="0"/>
                        <a:t>10</a:t>
                      </a:r>
                      <a:endParaRPr lang="en-IN" sz="1000" dirty="0"/>
                    </a:p>
                  </a:txBody>
                  <a:tcPr/>
                </a:tc>
                <a:extLst>
                  <a:ext uri="{0D108BD9-81ED-4DB2-BD59-A6C34878D82A}">
                    <a16:rowId xmlns:a16="http://schemas.microsoft.com/office/drawing/2014/main" val="2321713469"/>
                  </a:ext>
                </a:extLst>
              </a:tr>
              <a:tr h="39811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cap="none" dirty="0">
                          <a:solidFill>
                            <a:schemeClr val="dk1"/>
                          </a:solidFill>
                          <a:effectLst/>
                          <a:latin typeface="+mn-lt"/>
                          <a:ea typeface="+mn-ea"/>
                          <a:cs typeface="+mn-cs"/>
                          <a:sym typeface="Arial"/>
                        </a:rPr>
                        <a:t>4148 Diode x4</a:t>
                      </a:r>
                      <a:endParaRPr lang="en-IN" sz="10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dirty="0">
                          <a:effectLst/>
                          <a:latin typeface="Times New Roman" panose="02020603050405020304" pitchFamily="18" charset="0"/>
                          <a:ea typeface="Arial" panose="020B0604020202020204" pitchFamily="34" charset="0"/>
                        </a:rPr>
                        <a:t>Power supply and motor control circuit</a:t>
                      </a:r>
                      <a:endParaRPr lang="en-IN" sz="1000" dirty="0">
                        <a:effectLst/>
                        <a:latin typeface="Arial" panose="020B0604020202020204" pitchFamily="34" charset="0"/>
                        <a:ea typeface="Arial" panose="020B0604020202020204" pitchFamily="34" charset="0"/>
                      </a:endParaRPr>
                    </a:p>
                    <a:p>
                      <a:endParaRPr lang="en-IN" sz="1000" dirty="0"/>
                    </a:p>
                  </a:txBody>
                  <a:tcPr/>
                </a:tc>
                <a:tc>
                  <a:txBody>
                    <a:bodyPr/>
                    <a:lstStyle/>
                    <a:p>
                      <a:r>
                        <a:rPr lang="en-US" sz="1000" dirty="0"/>
                        <a:t>8</a:t>
                      </a:r>
                      <a:endParaRPr lang="en-IN" sz="1000" dirty="0"/>
                    </a:p>
                  </a:txBody>
                  <a:tcPr/>
                </a:tc>
                <a:extLst>
                  <a:ext uri="{0D108BD9-81ED-4DB2-BD59-A6C34878D82A}">
                    <a16:rowId xmlns:a16="http://schemas.microsoft.com/office/drawing/2014/main" val="3953136331"/>
                  </a:ext>
                </a:extLst>
              </a:tr>
              <a:tr h="2422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cap="none" dirty="0">
                          <a:solidFill>
                            <a:schemeClr val="dk1"/>
                          </a:solidFill>
                          <a:effectLst/>
                          <a:latin typeface="+mn-lt"/>
                          <a:ea typeface="+mn-ea"/>
                          <a:cs typeface="+mn-cs"/>
                          <a:sym typeface="Arial"/>
                        </a:rPr>
                        <a:t>Jumper Wires (M-M, F-M) x20</a:t>
                      </a:r>
                      <a:endParaRPr lang="en-IN" sz="10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dirty="0">
                          <a:effectLst/>
                          <a:latin typeface="Times New Roman" panose="02020603050405020304" pitchFamily="18" charset="0"/>
                          <a:ea typeface="Arial" panose="020B0604020202020204" pitchFamily="34" charset="0"/>
                        </a:rPr>
                        <a:t>Used for making connections </a:t>
                      </a:r>
                      <a:endParaRPr lang="en-IN" sz="1000" dirty="0">
                        <a:effectLst/>
                        <a:latin typeface="Arial" panose="020B0604020202020204" pitchFamily="34" charset="0"/>
                        <a:ea typeface="Arial" panose="020B0604020202020204" pitchFamily="34" charset="0"/>
                      </a:endParaRPr>
                    </a:p>
                  </a:txBody>
                  <a:tcPr/>
                </a:tc>
                <a:tc>
                  <a:txBody>
                    <a:bodyPr/>
                    <a:lstStyle/>
                    <a:p>
                      <a:r>
                        <a:rPr lang="en-US" sz="1000" dirty="0"/>
                        <a:t>25</a:t>
                      </a:r>
                      <a:endParaRPr lang="en-IN" sz="1000" dirty="0"/>
                    </a:p>
                  </a:txBody>
                  <a:tcPr/>
                </a:tc>
                <a:extLst>
                  <a:ext uri="{0D108BD9-81ED-4DB2-BD59-A6C34878D82A}">
                    <a16:rowId xmlns:a16="http://schemas.microsoft.com/office/drawing/2014/main" val="181351319"/>
                  </a:ext>
                </a:extLst>
              </a:tr>
              <a:tr h="2422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cap="none" dirty="0">
                          <a:solidFill>
                            <a:schemeClr val="dk1"/>
                          </a:solidFill>
                          <a:effectLst/>
                          <a:latin typeface="+mn-lt"/>
                          <a:ea typeface="+mn-ea"/>
                          <a:cs typeface="+mn-cs"/>
                          <a:sym typeface="Arial"/>
                        </a:rPr>
                        <a:t>ESP 32-CAM   Module x1</a:t>
                      </a:r>
                      <a:endParaRPr lang="en-IN" sz="10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dirty="0">
                          <a:effectLst/>
                          <a:latin typeface="Times New Roman" panose="02020603050405020304" pitchFamily="18" charset="0"/>
                          <a:ea typeface="Arial" panose="020B0604020202020204" pitchFamily="34" charset="0"/>
                        </a:rPr>
                        <a:t>Acts as the main brain of the drone</a:t>
                      </a:r>
                      <a:endParaRPr lang="en-IN" sz="1000" dirty="0">
                        <a:effectLst/>
                        <a:latin typeface="Arial" panose="020B0604020202020204" pitchFamily="34" charset="0"/>
                        <a:ea typeface="Arial" panose="020B0604020202020204" pitchFamily="34" charset="0"/>
                      </a:endParaRPr>
                    </a:p>
                  </a:txBody>
                  <a:tcPr/>
                </a:tc>
                <a:tc>
                  <a:txBody>
                    <a:bodyPr/>
                    <a:lstStyle/>
                    <a:p>
                      <a:r>
                        <a:rPr lang="en-US" sz="1000" dirty="0"/>
                        <a:t>550</a:t>
                      </a:r>
                      <a:endParaRPr lang="en-IN" sz="1000" dirty="0"/>
                    </a:p>
                  </a:txBody>
                  <a:tcPr/>
                </a:tc>
                <a:extLst>
                  <a:ext uri="{0D108BD9-81ED-4DB2-BD59-A6C34878D82A}">
                    <a16:rowId xmlns:a16="http://schemas.microsoft.com/office/drawing/2014/main" val="1656375221"/>
                  </a:ext>
                </a:extLst>
              </a:tr>
              <a:tr h="2422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cap="none" dirty="0">
                          <a:solidFill>
                            <a:schemeClr val="dk1"/>
                          </a:solidFill>
                          <a:effectLst/>
                          <a:latin typeface="+mn-lt"/>
                          <a:ea typeface="+mn-ea"/>
                          <a:cs typeface="+mn-cs"/>
                          <a:sym typeface="Arial"/>
                        </a:rPr>
                        <a:t>3.7V Battery (Drone) X1</a:t>
                      </a:r>
                      <a:endParaRPr lang="en-IN" sz="10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dirty="0">
                          <a:effectLst/>
                          <a:latin typeface="Times New Roman" panose="02020603050405020304" pitchFamily="18" charset="0"/>
                          <a:ea typeface="Arial" panose="020B0604020202020204" pitchFamily="34" charset="0"/>
                        </a:rPr>
                        <a:t>Provides power for the components to work inside</a:t>
                      </a:r>
                      <a:endParaRPr lang="en-IN" sz="1000" dirty="0">
                        <a:effectLst/>
                        <a:latin typeface="Arial" panose="020B0604020202020204" pitchFamily="34" charset="0"/>
                        <a:ea typeface="Arial" panose="020B0604020202020204" pitchFamily="34" charset="0"/>
                      </a:endParaRPr>
                    </a:p>
                  </a:txBody>
                  <a:tcPr/>
                </a:tc>
                <a:tc>
                  <a:txBody>
                    <a:bodyPr/>
                    <a:lstStyle/>
                    <a:p>
                      <a:r>
                        <a:rPr lang="en-US" sz="1000" dirty="0"/>
                        <a:t>300</a:t>
                      </a:r>
                      <a:endParaRPr lang="en-IN" sz="1000" dirty="0"/>
                    </a:p>
                  </a:txBody>
                  <a:tcPr/>
                </a:tc>
                <a:extLst>
                  <a:ext uri="{0D108BD9-81ED-4DB2-BD59-A6C34878D82A}">
                    <a16:rowId xmlns:a16="http://schemas.microsoft.com/office/drawing/2014/main" val="2050957393"/>
                  </a:ext>
                </a:extLst>
              </a:tr>
              <a:tr h="2422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cap="none" dirty="0">
                          <a:solidFill>
                            <a:schemeClr val="dk1"/>
                          </a:solidFill>
                          <a:effectLst/>
                          <a:latin typeface="+mn-lt"/>
                          <a:ea typeface="+mn-ea"/>
                          <a:cs typeface="+mn-cs"/>
                          <a:sym typeface="Arial"/>
                        </a:rPr>
                        <a:t>720 CORELESS  MOTOR X4</a:t>
                      </a:r>
                      <a:endParaRPr lang="en-IN" sz="10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dirty="0">
                          <a:effectLst/>
                          <a:latin typeface="Times New Roman" panose="02020603050405020304" pitchFamily="18" charset="0"/>
                          <a:ea typeface="Arial" panose="020B0604020202020204" pitchFamily="34" charset="0"/>
                        </a:rPr>
                        <a:t>Provides thrust to the entire drone helping it lift</a:t>
                      </a:r>
                      <a:endParaRPr lang="en-IN" sz="1000" dirty="0">
                        <a:effectLst/>
                        <a:latin typeface="Arial" panose="020B0604020202020204" pitchFamily="34" charset="0"/>
                        <a:ea typeface="Arial" panose="020B0604020202020204" pitchFamily="34" charset="0"/>
                      </a:endParaRPr>
                    </a:p>
                  </a:txBody>
                  <a:tcPr/>
                </a:tc>
                <a:tc>
                  <a:txBody>
                    <a:bodyPr/>
                    <a:lstStyle/>
                    <a:p>
                      <a:r>
                        <a:rPr lang="en-US" sz="1000" dirty="0"/>
                        <a:t>250</a:t>
                      </a:r>
                      <a:endParaRPr lang="en-IN" sz="1000" dirty="0"/>
                    </a:p>
                  </a:txBody>
                  <a:tcPr/>
                </a:tc>
                <a:extLst>
                  <a:ext uri="{0D108BD9-81ED-4DB2-BD59-A6C34878D82A}">
                    <a16:rowId xmlns:a16="http://schemas.microsoft.com/office/drawing/2014/main" val="2034729116"/>
                  </a:ext>
                </a:extLst>
              </a:tr>
              <a:tr h="39811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cap="none" dirty="0">
                          <a:solidFill>
                            <a:schemeClr val="dk1"/>
                          </a:solidFill>
                          <a:effectLst/>
                          <a:latin typeface="+mn-lt"/>
                          <a:ea typeface="+mn-ea"/>
                          <a:cs typeface="+mn-cs"/>
                          <a:sym typeface="Arial"/>
                        </a:rPr>
                        <a:t>PCB 2x3 X1</a:t>
                      </a:r>
                      <a:endParaRPr lang="en-IN" sz="10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dirty="0">
                          <a:effectLst/>
                          <a:latin typeface="Times New Roman" panose="02020603050405020304" pitchFamily="18" charset="0"/>
                          <a:ea typeface="Arial" panose="020B0604020202020204" pitchFamily="34" charset="0"/>
                        </a:rPr>
                        <a:t>Provides electronic connections between components </a:t>
                      </a:r>
                      <a:endParaRPr lang="en-IN" sz="1000" dirty="0">
                        <a:effectLst/>
                        <a:latin typeface="Arial" panose="020B0604020202020204" pitchFamily="34" charset="0"/>
                        <a:ea typeface="Arial" panose="020B0604020202020204" pitchFamily="34" charset="0"/>
                      </a:endParaRPr>
                    </a:p>
                  </a:txBody>
                  <a:tcPr/>
                </a:tc>
                <a:tc>
                  <a:txBody>
                    <a:bodyPr/>
                    <a:lstStyle/>
                    <a:p>
                      <a:r>
                        <a:rPr lang="en-US" sz="1000" dirty="0"/>
                        <a:t>10</a:t>
                      </a:r>
                      <a:endParaRPr lang="en-IN" sz="1000" dirty="0"/>
                    </a:p>
                  </a:txBody>
                  <a:tcPr/>
                </a:tc>
                <a:extLst>
                  <a:ext uri="{0D108BD9-81ED-4DB2-BD59-A6C34878D82A}">
                    <a16:rowId xmlns:a16="http://schemas.microsoft.com/office/drawing/2014/main" val="3633473322"/>
                  </a:ext>
                </a:extLst>
              </a:tr>
              <a:tr h="35127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cap="none" dirty="0">
                          <a:solidFill>
                            <a:schemeClr val="dk1"/>
                          </a:solidFill>
                          <a:effectLst/>
                          <a:latin typeface="+mn-lt"/>
                          <a:ea typeface="+mn-ea"/>
                          <a:cs typeface="+mn-cs"/>
                          <a:sym typeface="Arial"/>
                        </a:rPr>
                        <a:t>PROPELLER SET (55mm) X2</a:t>
                      </a:r>
                      <a:endParaRPr lang="en-IN" sz="10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A propeller generates thrust to lift and move the drone.</a:t>
                      </a:r>
                      <a:endParaRPr lang="en-IN" sz="1000" dirty="0">
                        <a:effectLst/>
                        <a:latin typeface="Arial" panose="020B0604020202020204" pitchFamily="34" charset="0"/>
                        <a:ea typeface="Arial" panose="020B0604020202020204" pitchFamily="34" charset="0"/>
                      </a:endParaRPr>
                    </a:p>
                  </a:txBody>
                  <a:tcPr/>
                </a:tc>
                <a:tc>
                  <a:txBody>
                    <a:bodyPr/>
                    <a:lstStyle/>
                    <a:p>
                      <a:r>
                        <a:rPr lang="en-US" sz="1000" dirty="0"/>
                        <a:t>70</a:t>
                      </a:r>
                      <a:endParaRPr lang="en-IN" sz="1000" dirty="0"/>
                    </a:p>
                  </a:txBody>
                  <a:tcPr/>
                </a:tc>
                <a:extLst>
                  <a:ext uri="{0D108BD9-81ED-4DB2-BD59-A6C34878D82A}">
                    <a16:rowId xmlns:a16="http://schemas.microsoft.com/office/drawing/2014/main" val="1380952128"/>
                  </a:ext>
                </a:extLst>
              </a:tr>
              <a:tr h="2422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cap="none" dirty="0">
                          <a:solidFill>
                            <a:schemeClr val="dk1"/>
                          </a:solidFill>
                          <a:effectLst/>
                          <a:latin typeface="+mn-lt"/>
                          <a:ea typeface="+mn-ea"/>
                          <a:cs typeface="+mn-cs"/>
                          <a:sym typeface="Arial"/>
                        </a:rPr>
                        <a:t>MOTOR DRIVER X1</a:t>
                      </a:r>
                      <a:endParaRPr lang="en-IN" sz="10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dirty="0">
                          <a:effectLst/>
                          <a:latin typeface="Times New Roman" panose="02020603050405020304" pitchFamily="18" charset="0"/>
                          <a:ea typeface="Arial" panose="020B0604020202020204" pitchFamily="34" charset="0"/>
                        </a:rPr>
                        <a:t>Helps in controlling the motor</a:t>
                      </a:r>
                      <a:endParaRPr lang="en-IN" sz="1000" dirty="0">
                        <a:effectLst/>
                        <a:latin typeface="Arial" panose="020B0604020202020204" pitchFamily="34" charset="0"/>
                        <a:ea typeface="Arial" panose="020B0604020202020204" pitchFamily="34" charset="0"/>
                      </a:endParaRPr>
                    </a:p>
                  </a:txBody>
                  <a:tcPr/>
                </a:tc>
                <a:tc>
                  <a:txBody>
                    <a:bodyPr/>
                    <a:lstStyle/>
                    <a:p>
                      <a:r>
                        <a:rPr lang="en-US" sz="1000" dirty="0"/>
                        <a:t>100</a:t>
                      </a:r>
                      <a:endParaRPr lang="en-IN" sz="1000" dirty="0"/>
                    </a:p>
                  </a:txBody>
                  <a:tcPr/>
                </a:tc>
                <a:extLst>
                  <a:ext uri="{0D108BD9-81ED-4DB2-BD59-A6C34878D82A}">
                    <a16:rowId xmlns:a16="http://schemas.microsoft.com/office/drawing/2014/main" val="118118877"/>
                  </a:ext>
                </a:extLst>
              </a:tr>
              <a:tr h="2422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cap="none" dirty="0">
                          <a:solidFill>
                            <a:schemeClr val="dk1"/>
                          </a:solidFill>
                          <a:effectLst/>
                          <a:latin typeface="+mn-lt"/>
                          <a:ea typeface="+mn-ea"/>
                          <a:cs typeface="+mn-cs"/>
                          <a:sym typeface="Arial"/>
                        </a:rPr>
                        <a:t>Buzzer X1</a:t>
                      </a:r>
                      <a:endParaRPr lang="en-IN" sz="1000" dirty="0"/>
                    </a:p>
                  </a:txBody>
                  <a:tcPr/>
                </a:tc>
                <a:tc>
                  <a:txBody>
                    <a:bodyPr/>
                    <a:lstStyle/>
                    <a:p>
                      <a:r>
                        <a:rPr lang="en-US" sz="1000" dirty="0"/>
                        <a:t>A buzzer gives sound alerts.</a:t>
                      </a:r>
                      <a:endParaRPr lang="en-IN" sz="1000" dirty="0"/>
                    </a:p>
                  </a:txBody>
                  <a:tcPr/>
                </a:tc>
                <a:tc>
                  <a:txBody>
                    <a:bodyPr/>
                    <a:lstStyle/>
                    <a:p>
                      <a:r>
                        <a:rPr lang="en-US" sz="1000" dirty="0"/>
                        <a:t>15</a:t>
                      </a:r>
                      <a:endParaRPr lang="en-IN" sz="1000" dirty="0"/>
                    </a:p>
                  </a:txBody>
                  <a:tcPr/>
                </a:tc>
                <a:extLst>
                  <a:ext uri="{0D108BD9-81ED-4DB2-BD59-A6C34878D82A}">
                    <a16:rowId xmlns:a16="http://schemas.microsoft.com/office/drawing/2014/main" val="514813821"/>
                  </a:ext>
                </a:extLst>
              </a:tr>
              <a:tr h="242271">
                <a:tc>
                  <a:txBody>
                    <a:bodyPr/>
                    <a:lstStyle/>
                    <a:p>
                      <a:r>
                        <a:rPr lang="en-US" sz="1000" dirty="0"/>
                        <a:t>Bread Board X1</a:t>
                      </a:r>
                      <a:endParaRPr lang="en-IN" sz="1000" dirty="0"/>
                    </a:p>
                  </a:txBody>
                  <a:tcPr/>
                </a:tc>
                <a:tc>
                  <a:txBody>
                    <a:bodyPr/>
                    <a:lstStyle/>
                    <a:p>
                      <a:r>
                        <a:rPr lang="en-US" sz="1000" dirty="0"/>
                        <a:t>A breadboard is used to build and test circuits </a:t>
                      </a:r>
                      <a:endParaRPr lang="en-IN" sz="1000" dirty="0"/>
                    </a:p>
                  </a:txBody>
                  <a:tcPr/>
                </a:tc>
                <a:tc>
                  <a:txBody>
                    <a:bodyPr/>
                    <a:lstStyle/>
                    <a:p>
                      <a:r>
                        <a:rPr lang="en-US" sz="1000" dirty="0"/>
                        <a:t>-</a:t>
                      </a:r>
                      <a:endParaRPr lang="en-IN" sz="1000" dirty="0"/>
                    </a:p>
                  </a:txBody>
                  <a:tcPr/>
                </a:tc>
                <a:extLst>
                  <a:ext uri="{0D108BD9-81ED-4DB2-BD59-A6C34878D82A}">
                    <a16:rowId xmlns:a16="http://schemas.microsoft.com/office/drawing/2014/main" val="1429586992"/>
                  </a:ext>
                </a:extLst>
              </a:tr>
              <a:tr h="242271">
                <a:tc>
                  <a:txBody>
                    <a:bodyPr/>
                    <a:lstStyle/>
                    <a:p>
                      <a:r>
                        <a:rPr lang="en-US" sz="1000" dirty="0"/>
                        <a:t>Others</a:t>
                      </a:r>
                      <a:endParaRPr lang="en-IN" sz="1000" dirty="0"/>
                    </a:p>
                  </a:txBody>
                  <a:tcPr/>
                </a:tc>
                <a:tc>
                  <a:txBody>
                    <a:bodyPr/>
                    <a:lstStyle/>
                    <a:p>
                      <a:endParaRPr lang="en-IN" sz="1000" dirty="0"/>
                    </a:p>
                  </a:txBody>
                  <a:tcPr/>
                </a:tc>
                <a:tc>
                  <a:txBody>
                    <a:bodyPr/>
                    <a:lstStyle/>
                    <a:p>
                      <a:r>
                        <a:rPr lang="en-US" sz="1000" dirty="0"/>
                        <a:t>60</a:t>
                      </a:r>
                      <a:endParaRPr lang="en-IN" sz="1000" dirty="0"/>
                    </a:p>
                  </a:txBody>
                  <a:tcPr/>
                </a:tc>
                <a:extLst>
                  <a:ext uri="{0D108BD9-81ED-4DB2-BD59-A6C34878D82A}">
                    <a16:rowId xmlns:a16="http://schemas.microsoft.com/office/drawing/2014/main" val="739517669"/>
                  </a:ext>
                </a:extLst>
              </a:tr>
              <a:tr h="242271">
                <a:tc>
                  <a:txBody>
                    <a:bodyPr/>
                    <a:lstStyle/>
                    <a:p>
                      <a:r>
                        <a:rPr lang="en-US" sz="1000" dirty="0"/>
                        <a:t>Total</a:t>
                      </a:r>
                      <a:endParaRPr lang="en-IN" sz="1000" dirty="0"/>
                    </a:p>
                  </a:txBody>
                  <a:tcPr/>
                </a:tc>
                <a:tc>
                  <a:txBody>
                    <a:bodyPr/>
                    <a:lstStyle/>
                    <a:p>
                      <a:endParaRPr lang="en-IN" sz="1000" dirty="0"/>
                    </a:p>
                  </a:txBody>
                  <a:tcPr/>
                </a:tc>
                <a:tc>
                  <a:txBody>
                    <a:bodyPr/>
                    <a:lstStyle/>
                    <a:p>
                      <a:r>
                        <a:rPr lang="en-US" sz="1000" dirty="0"/>
                        <a:t>1840</a:t>
                      </a:r>
                      <a:endParaRPr lang="en-IN" sz="1000" dirty="0"/>
                    </a:p>
                  </a:txBody>
                  <a:tcPr/>
                </a:tc>
                <a:extLst>
                  <a:ext uri="{0D108BD9-81ED-4DB2-BD59-A6C34878D82A}">
                    <a16:rowId xmlns:a16="http://schemas.microsoft.com/office/drawing/2014/main" val="2760325556"/>
                  </a:ext>
                </a:extLst>
              </a:tr>
            </a:tbl>
          </a:graphicData>
        </a:graphic>
      </p:graphicFrame>
    </p:spTree>
    <p:extLst>
      <p:ext uri="{BB962C8B-B14F-4D97-AF65-F5344CB8AC3E}">
        <p14:creationId xmlns:p14="http://schemas.microsoft.com/office/powerpoint/2010/main" val="4089036515"/>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2"/>
          <p:cNvSpPr txBox="1">
            <a:spLocks noGrp="1"/>
          </p:cNvSpPr>
          <p:nvPr>
            <p:ph type="title"/>
          </p:nvPr>
        </p:nvSpPr>
        <p:spPr>
          <a:xfrm>
            <a:off x="838200" y="820131"/>
            <a:ext cx="10515600" cy="102752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sz="3600" b="1" dirty="0">
                <a:solidFill>
                  <a:srgbClr val="C00000"/>
                </a:solidFill>
                <a:latin typeface="Century" panose="02040604050505020304" pitchFamily="18" charset="0"/>
                <a:ea typeface="Arial"/>
                <a:cs typeface="Arial"/>
                <a:sym typeface="Arial"/>
              </a:rPr>
              <a:t>Proposed Circuit / Connection Diagram </a:t>
            </a:r>
            <a:endParaRPr sz="3600" b="1" dirty="0">
              <a:solidFill>
                <a:srgbClr val="C00000"/>
              </a:solidFill>
              <a:latin typeface="Century" panose="02040604050505020304" pitchFamily="18" charset="0"/>
              <a:ea typeface="Arial"/>
              <a:cs typeface="Arial"/>
              <a:sym typeface="Arial"/>
            </a:endParaRPr>
          </a:p>
        </p:txBody>
      </p:sp>
      <p:sp>
        <p:nvSpPr>
          <p:cNvPr id="203" name="Google Shape;203;p1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
        <p:nvSpPr>
          <p:cNvPr id="204" name="Google Shape;204;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pic>
        <p:nvPicPr>
          <p:cNvPr id="205" name="Google Shape;205;p12"/>
          <p:cNvPicPr preferRelativeResize="0"/>
          <p:nvPr/>
        </p:nvPicPr>
        <p:blipFill rotWithShape="1">
          <a:blip r:embed="rId3">
            <a:alphaModFix/>
          </a:blip>
          <a:srcRect/>
          <a:stretch/>
        </p:blipFill>
        <p:spPr>
          <a:xfrm>
            <a:off x="3337088" y="1847654"/>
            <a:ext cx="6278251" cy="3761295"/>
          </a:xfrm>
          <a:prstGeom prst="rect">
            <a:avLst/>
          </a:prstGeom>
          <a:noFill/>
          <a:ln>
            <a:noFill/>
          </a:ln>
        </p:spPr>
      </p:pic>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3"/>
          <p:cNvSpPr txBox="1">
            <a:spLocks noGrp="1"/>
          </p:cNvSpPr>
          <p:nvPr>
            <p:ph type="title"/>
          </p:nvPr>
        </p:nvSpPr>
        <p:spPr>
          <a:xfrm>
            <a:off x="838200" y="857839"/>
            <a:ext cx="10515600" cy="83298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sz="3600" b="1" dirty="0">
                <a:solidFill>
                  <a:srgbClr val="C00000"/>
                </a:solidFill>
                <a:latin typeface="Century" panose="02040604050505020304" pitchFamily="18" charset="0"/>
                <a:ea typeface="Arial"/>
                <a:cs typeface="Arial"/>
                <a:sym typeface="Arial"/>
              </a:rPr>
              <a:t>Project Status </a:t>
            </a:r>
            <a:endParaRPr sz="3600" b="1" dirty="0">
              <a:solidFill>
                <a:srgbClr val="C00000"/>
              </a:solidFill>
              <a:latin typeface="Century" panose="02040604050505020304" pitchFamily="18" charset="0"/>
              <a:ea typeface="Arial"/>
              <a:cs typeface="Arial"/>
              <a:sym typeface="Arial"/>
            </a:endParaRPr>
          </a:p>
        </p:txBody>
      </p:sp>
      <p:sp>
        <p:nvSpPr>
          <p:cNvPr id="211" name="Google Shape;211;p1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lnSpc>
                <a:spcPct val="90000"/>
              </a:lnSpc>
              <a:spcBef>
                <a:spcPts val="1000"/>
              </a:spcBef>
              <a:spcAft>
                <a:spcPts val="0"/>
              </a:spcAft>
              <a:buSzPct val="82949"/>
              <a:buNone/>
            </a:pPr>
            <a:r>
              <a:rPr lang="en-US" b="1" dirty="0">
                <a:highlight>
                  <a:srgbClr val="FF0000"/>
                </a:highlight>
                <a:latin typeface="Century" panose="02040604050505020304" pitchFamily="18" charset="0"/>
              </a:rPr>
              <a:t>Work Completed till Date </a:t>
            </a:r>
            <a:endParaRPr b="1" dirty="0">
              <a:highlight>
                <a:srgbClr val="FF0000"/>
              </a:highlight>
              <a:latin typeface="Century" panose="02040604050505020304" pitchFamily="18" charset="0"/>
            </a:endParaRPr>
          </a:p>
          <a:p>
            <a:pPr marL="0" lvl="0" indent="0" algn="l" rtl="0">
              <a:lnSpc>
                <a:spcPct val="90000"/>
              </a:lnSpc>
              <a:spcBef>
                <a:spcPts val="1000"/>
              </a:spcBef>
              <a:spcAft>
                <a:spcPts val="0"/>
              </a:spcAft>
              <a:buSzPct val="82949"/>
              <a:buNone/>
            </a:pPr>
            <a:r>
              <a:rPr lang="en-US" dirty="0"/>
              <a:t>Few components: L298N motor drivers and battery charger are remaining to be attached. 30% of the hardware part is completed.</a:t>
            </a:r>
            <a:endParaRPr dirty="0"/>
          </a:p>
          <a:p>
            <a:pPr marL="0" lvl="0" indent="0" algn="l" rtl="0">
              <a:lnSpc>
                <a:spcPct val="90000"/>
              </a:lnSpc>
              <a:spcBef>
                <a:spcPts val="1000"/>
              </a:spcBef>
              <a:spcAft>
                <a:spcPts val="0"/>
              </a:spcAft>
              <a:buSzPct val="82949"/>
              <a:buNone/>
            </a:pPr>
            <a:r>
              <a:rPr lang="en-US" dirty="0"/>
              <a:t>Such as:</a:t>
            </a:r>
            <a:endParaRPr dirty="0"/>
          </a:p>
          <a:p>
            <a:pPr marL="514350" lvl="0" indent="-514350" algn="l" rtl="0">
              <a:lnSpc>
                <a:spcPct val="90000"/>
              </a:lnSpc>
              <a:spcBef>
                <a:spcPts val="1000"/>
              </a:spcBef>
              <a:spcAft>
                <a:spcPts val="0"/>
              </a:spcAft>
              <a:buSzPct val="82949"/>
              <a:buAutoNum type="arabicParenR"/>
            </a:pPr>
            <a:r>
              <a:rPr lang="en-US" dirty="0"/>
              <a:t>Circuit Diagram</a:t>
            </a:r>
            <a:endParaRPr dirty="0"/>
          </a:p>
          <a:p>
            <a:pPr marL="514350" lvl="0" indent="-514350" algn="l" rtl="0">
              <a:lnSpc>
                <a:spcPct val="90000"/>
              </a:lnSpc>
              <a:spcBef>
                <a:spcPts val="1000"/>
              </a:spcBef>
              <a:spcAft>
                <a:spcPts val="0"/>
              </a:spcAft>
              <a:buSzPct val="82949"/>
              <a:buAutoNum type="arabicParenR"/>
            </a:pPr>
            <a:r>
              <a:rPr lang="en-US" dirty="0"/>
              <a:t>Frame Work</a:t>
            </a:r>
            <a:endParaRPr dirty="0"/>
          </a:p>
          <a:p>
            <a:pPr marL="514350" lvl="0" indent="-514350" algn="l" rtl="0">
              <a:lnSpc>
                <a:spcPct val="90000"/>
              </a:lnSpc>
              <a:spcBef>
                <a:spcPts val="1000"/>
              </a:spcBef>
              <a:spcAft>
                <a:spcPts val="0"/>
              </a:spcAft>
              <a:buSzPct val="82949"/>
              <a:buAutoNum type="arabicParenR"/>
            </a:pPr>
            <a:r>
              <a:rPr lang="en-US" dirty="0"/>
              <a:t>Assembly of parts</a:t>
            </a:r>
            <a:br>
              <a:rPr lang="en-US" dirty="0"/>
            </a:br>
            <a:endParaRPr dirty="0"/>
          </a:p>
          <a:p>
            <a:pPr marL="0" lvl="0" indent="0" algn="l" rtl="0">
              <a:lnSpc>
                <a:spcPct val="90000"/>
              </a:lnSpc>
              <a:spcBef>
                <a:spcPts val="1000"/>
              </a:spcBef>
              <a:spcAft>
                <a:spcPts val="0"/>
              </a:spcAft>
              <a:buSzPct val="82949"/>
              <a:buNone/>
            </a:pPr>
            <a:r>
              <a:rPr lang="en-US" b="1" dirty="0">
                <a:highlight>
                  <a:srgbClr val="FF0000"/>
                </a:highlight>
              </a:rPr>
              <a:t>Work To be completed</a:t>
            </a:r>
            <a:endParaRPr dirty="0">
              <a:highlight>
                <a:srgbClr val="FF0000"/>
              </a:highlight>
            </a:endParaRPr>
          </a:p>
          <a:p>
            <a:pPr marL="514350" lvl="0" indent="-514350" algn="l" rtl="0">
              <a:lnSpc>
                <a:spcPct val="90000"/>
              </a:lnSpc>
              <a:spcBef>
                <a:spcPts val="1000"/>
              </a:spcBef>
              <a:spcAft>
                <a:spcPts val="0"/>
              </a:spcAft>
              <a:buSzPct val="82949"/>
              <a:buAutoNum type="arabicParenR"/>
            </a:pPr>
            <a:r>
              <a:rPr lang="en-US" dirty="0"/>
              <a:t>Software: Programming of ESP32 Cam </a:t>
            </a:r>
            <a:r>
              <a:rPr lang="en-US"/>
              <a:t>with MPU6050, L298N, TP4056</a:t>
            </a:r>
            <a:endParaRPr dirty="0"/>
          </a:p>
          <a:p>
            <a:pPr marL="514350" lvl="0" indent="-514350" algn="l" rtl="0">
              <a:lnSpc>
                <a:spcPct val="90000"/>
              </a:lnSpc>
              <a:spcBef>
                <a:spcPts val="1000"/>
              </a:spcBef>
              <a:spcAft>
                <a:spcPts val="0"/>
              </a:spcAft>
              <a:buSzPct val="82949"/>
              <a:buAutoNum type="arabicParenR"/>
            </a:pPr>
            <a:r>
              <a:rPr lang="en-US" dirty="0"/>
              <a:t>Increase epoch to 50 for further training.</a:t>
            </a:r>
          </a:p>
          <a:p>
            <a:pPr marL="514350" lvl="0" indent="-514350" algn="l" rtl="0">
              <a:lnSpc>
                <a:spcPct val="90000"/>
              </a:lnSpc>
              <a:spcBef>
                <a:spcPts val="1000"/>
              </a:spcBef>
              <a:spcAft>
                <a:spcPts val="0"/>
              </a:spcAft>
              <a:buSzPct val="82949"/>
              <a:buAutoNum type="arabicParenR"/>
            </a:pPr>
            <a:r>
              <a:rPr lang="en-US" dirty="0"/>
              <a:t>Connecting the ESP32-Cam module to Arduino IDE without failure</a:t>
            </a:r>
          </a:p>
          <a:p>
            <a:pPr marL="0" lvl="0" indent="0" algn="l" rtl="0">
              <a:lnSpc>
                <a:spcPct val="90000"/>
              </a:lnSpc>
              <a:spcBef>
                <a:spcPts val="1000"/>
              </a:spcBef>
              <a:spcAft>
                <a:spcPts val="0"/>
              </a:spcAft>
              <a:buSzPct val="82949"/>
              <a:buNone/>
            </a:pPr>
            <a:endParaRPr dirty="0"/>
          </a:p>
        </p:txBody>
      </p:sp>
      <p:sp>
        <p:nvSpPr>
          <p:cNvPr id="212" name="Google Shape;212;p1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
        <p:nvSpPr>
          <p:cNvPr id="213" name="Google Shape;2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4"/>
          <p:cNvSpPr txBox="1">
            <a:spLocks noGrp="1"/>
          </p:cNvSpPr>
          <p:nvPr>
            <p:ph type="title"/>
          </p:nvPr>
        </p:nvSpPr>
        <p:spPr>
          <a:xfrm>
            <a:off x="838200" y="365125"/>
            <a:ext cx="10515600" cy="90363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sz="3600" b="1" dirty="0">
                <a:solidFill>
                  <a:srgbClr val="C00000"/>
                </a:solidFill>
                <a:latin typeface="Arial"/>
                <a:ea typeface="Arial"/>
                <a:cs typeface="Arial"/>
                <a:sym typeface="Arial"/>
              </a:rPr>
              <a:t>Results </a:t>
            </a:r>
            <a:endParaRPr sz="3600" b="1" dirty="0">
              <a:solidFill>
                <a:srgbClr val="C00000"/>
              </a:solidFill>
              <a:latin typeface="Arial"/>
              <a:ea typeface="Arial"/>
              <a:cs typeface="Arial"/>
              <a:sym typeface="Arial"/>
            </a:endParaRPr>
          </a:p>
        </p:txBody>
      </p:sp>
      <p:sp>
        <p:nvSpPr>
          <p:cNvPr id="219" name="Google Shape;219;p14"/>
          <p:cNvSpPr txBox="1">
            <a:spLocks noGrp="1"/>
          </p:cNvSpPr>
          <p:nvPr>
            <p:ph type="body" idx="1"/>
          </p:nvPr>
        </p:nvSpPr>
        <p:spPr>
          <a:xfrm>
            <a:off x="838200" y="1340768"/>
            <a:ext cx="10515600" cy="483605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1800"/>
              <a:buNone/>
            </a:pPr>
            <a:endParaRPr>
              <a:latin typeface="Fira Sans"/>
              <a:ea typeface="Fira Sans"/>
              <a:cs typeface="Fira Sans"/>
              <a:sym typeface="Fira Sans"/>
            </a:endParaRPr>
          </a:p>
        </p:txBody>
      </p:sp>
      <p:sp>
        <p:nvSpPr>
          <p:cNvPr id="220" name="Google Shape;220;p1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
        <p:nvSpPr>
          <p:cNvPr id="221" name="Google Shape;22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pic>
        <p:nvPicPr>
          <p:cNvPr id="222" name="Google Shape;222;p14"/>
          <p:cNvPicPr preferRelativeResize="0"/>
          <p:nvPr/>
        </p:nvPicPr>
        <p:blipFill rotWithShape="1">
          <a:blip r:embed="rId3">
            <a:alphaModFix/>
          </a:blip>
          <a:srcRect/>
          <a:stretch/>
        </p:blipFill>
        <p:spPr>
          <a:xfrm>
            <a:off x="0" y="1336142"/>
            <a:ext cx="12192000" cy="4836058"/>
          </a:xfrm>
          <a:prstGeom prst="rect">
            <a:avLst/>
          </a:prstGeom>
          <a:noFill/>
          <a:ln>
            <a:noFill/>
          </a:ln>
        </p:spPr>
      </p:pic>
      <p:pic>
        <p:nvPicPr>
          <p:cNvPr id="3" name="Picture 2">
            <a:extLst>
              <a:ext uri="{FF2B5EF4-FFF2-40B4-BE49-F238E27FC236}">
                <a16:creationId xmlns:a16="http://schemas.microsoft.com/office/drawing/2014/main" id="{DE98A9D3-F89B-1F05-E274-B2818D0E3E9B}"/>
              </a:ext>
            </a:extLst>
          </p:cNvPr>
          <p:cNvPicPr>
            <a:picLocks noChangeAspect="1"/>
          </p:cNvPicPr>
          <p:nvPr/>
        </p:nvPicPr>
        <p:blipFill>
          <a:blip r:embed="rId4"/>
          <a:stretch>
            <a:fillRect/>
          </a:stretch>
        </p:blipFill>
        <p:spPr>
          <a:xfrm>
            <a:off x="7157720" y="1345393"/>
            <a:ext cx="4953000" cy="4836058"/>
          </a:xfrm>
          <a:prstGeom prst="rect">
            <a:avLst/>
          </a:prstGeom>
        </p:spPr>
      </p:pic>
      <p:pic>
        <p:nvPicPr>
          <p:cNvPr id="5" name="Picture 4">
            <a:extLst>
              <a:ext uri="{FF2B5EF4-FFF2-40B4-BE49-F238E27FC236}">
                <a16:creationId xmlns:a16="http://schemas.microsoft.com/office/drawing/2014/main" id="{ADF64C56-50A9-F698-7630-7AAEAB1881F0}"/>
              </a:ext>
            </a:extLst>
          </p:cNvPr>
          <p:cNvPicPr>
            <a:picLocks noChangeAspect="1"/>
          </p:cNvPicPr>
          <p:nvPr/>
        </p:nvPicPr>
        <p:blipFill>
          <a:blip r:embed="rId5"/>
          <a:stretch>
            <a:fillRect/>
          </a:stretch>
        </p:blipFill>
        <p:spPr>
          <a:xfrm>
            <a:off x="0" y="1345393"/>
            <a:ext cx="2975610" cy="4836058"/>
          </a:xfrm>
          <a:prstGeom prst="rect">
            <a:avLst/>
          </a:prstGeom>
        </p:spPr>
      </p:pic>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5"/>
          <p:cNvSpPr txBox="1">
            <a:spLocks noGrp="1"/>
          </p:cNvSpPr>
          <p:nvPr>
            <p:ph type="title"/>
          </p:nvPr>
        </p:nvSpPr>
        <p:spPr>
          <a:xfrm>
            <a:off x="913615" y="902454"/>
            <a:ext cx="10515600" cy="10583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dirty="0">
                <a:solidFill>
                  <a:srgbClr val="FF0000"/>
                </a:solidFill>
              </a:rPr>
              <a:t>                      </a:t>
            </a:r>
            <a:r>
              <a:rPr lang="en-US" dirty="0">
                <a:solidFill>
                  <a:srgbClr val="FF0000"/>
                </a:solidFill>
                <a:latin typeface="Century" panose="02040604050505020304" pitchFamily="18" charset="0"/>
              </a:rPr>
              <a:t>Video Link (Drive)</a:t>
            </a:r>
            <a:endParaRPr dirty="0">
              <a:latin typeface="Century" panose="02040604050505020304" pitchFamily="18" charset="0"/>
            </a:endParaRPr>
          </a:p>
        </p:txBody>
      </p:sp>
      <p:sp>
        <p:nvSpPr>
          <p:cNvPr id="230" name="Google Shape;230;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u="sng">
                <a:solidFill>
                  <a:schemeClr val="hlink"/>
                </a:solidFill>
                <a:hlinkClick r:id="rId3"/>
              </a:rPr>
              <a:t>https://drive.google.com/file/d/1sd36WH1DxfNUodX4LO99AANzWV8UiPy6/view?usp=drive_link</a:t>
            </a:r>
            <a:endParaRPr/>
          </a:p>
          <a:p>
            <a:pPr marL="457200" lvl="0" indent="-228600" algn="l" rtl="0">
              <a:lnSpc>
                <a:spcPct val="90000"/>
              </a:lnSpc>
              <a:spcBef>
                <a:spcPts val="1000"/>
              </a:spcBef>
              <a:spcAft>
                <a:spcPts val="0"/>
              </a:spcAft>
              <a:buClr>
                <a:schemeClr val="dk1"/>
              </a:buClr>
              <a:buSzPts val="1800"/>
              <a:buNone/>
            </a:pPr>
            <a:endParaRPr/>
          </a:p>
          <a:p>
            <a:pPr marL="457200" lvl="0" indent="-342900" algn="l" rtl="0">
              <a:lnSpc>
                <a:spcPct val="90000"/>
              </a:lnSpc>
              <a:spcBef>
                <a:spcPts val="1000"/>
              </a:spcBef>
              <a:spcAft>
                <a:spcPts val="0"/>
              </a:spcAft>
              <a:buClr>
                <a:schemeClr val="dk1"/>
              </a:buClr>
              <a:buSzPts val="1800"/>
              <a:buChar char="•"/>
            </a:pPr>
            <a:r>
              <a:rPr lang="en-US" u="sng">
                <a:solidFill>
                  <a:schemeClr val="hlink"/>
                </a:solidFill>
                <a:hlinkClick r:id="rId4"/>
              </a:rPr>
              <a:t>https://drive.google.com/file/d/1m87tP-JAseUlWk_KbbWGhg3M0qqW1d5Q/view?usp=sharing</a:t>
            </a:r>
            <a:endParaRPr/>
          </a:p>
          <a:p>
            <a:pPr marL="457200" lvl="0" indent="-228600" algn="l" rtl="0">
              <a:lnSpc>
                <a:spcPct val="90000"/>
              </a:lnSpc>
              <a:spcBef>
                <a:spcPts val="1000"/>
              </a:spcBef>
              <a:spcAft>
                <a:spcPts val="0"/>
              </a:spcAft>
              <a:buClr>
                <a:schemeClr val="dk1"/>
              </a:buClr>
              <a:buSzPts val="1800"/>
              <a:buNone/>
            </a:pPr>
            <a:endParaRPr/>
          </a:p>
        </p:txBody>
      </p:sp>
      <p:sp>
        <p:nvSpPr>
          <p:cNvPr id="231" name="Google Shape;23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232" name="Google Shape;23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6"/>
          <p:cNvSpPr txBox="1">
            <a:spLocks noGrp="1"/>
          </p:cNvSpPr>
          <p:nvPr>
            <p:ph type="title"/>
          </p:nvPr>
        </p:nvSpPr>
        <p:spPr>
          <a:xfrm>
            <a:off x="838200" y="365125"/>
            <a:ext cx="10515600" cy="90363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sz="3600" b="1">
                <a:solidFill>
                  <a:srgbClr val="C00000"/>
                </a:solidFill>
                <a:latin typeface="Arial"/>
                <a:ea typeface="Arial"/>
                <a:cs typeface="Arial"/>
                <a:sym typeface="Arial"/>
              </a:rPr>
              <a:t>Results </a:t>
            </a:r>
            <a:endParaRPr sz="3600" b="1">
              <a:solidFill>
                <a:srgbClr val="C00000"/>
              </a:solidFill>
              <a:latin typeface="Arial"/>
              <a:ea typeface="Arial"/>
              <a:cs typeface="Arial"/>
              <a:sym typeface="Arial"/>
            </a:endParaRPr>
          </a:p>
        </p:txBody>
      </p:sp>
      <p:sp>
        <p:nvSpPr>
          <p:cNvPr id="238" name="Google Shape;238;p16"/>
          <p:cNvSpPr txBox="1">
            <a:spLocks noGrp="1"/>
          </p:cNvSpPr>
          <p:nvPr>
            <p:ph type="body" idx="1"/>
          </p:nvPr>
        </p:nvSpPr>
        <p:spPr>
          <a:xfrm>
            <a:off x="838200" y="1268761"/>
            <a:ext cx="10219441" cy="459471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1800"/>
              <a:buNone/>
            </a:pPr>
            <a:r>
              <a:rPr lang="en-US" dirty="0"/>
              <a:t>Our image-detecting drone is designed to identify specific products, including Amul Milk, Peanut Packets, Frooti bottles, and egg shells. As soon as the drone processes the image frame through its onboard system, it activates a buzzing alert, signaling the detection of any of these items.</a:t>
            </a:r>
            <a:br>
              <a:rPr lang="en-US" dirty="0">
                <a:latin typeface="Fira Sans"/>
                <a:ea typeface="Fira Sans"/>
                <a:cs typeface="Fira Sans"/>
                <a:sym typeface="Fira Sans"/>
              </a:rPr>
            </a:br>
            <a:r>
              <a:rPr lang="en-US" dirty="0">
                <a:latin typeface="Calibri" panose="020F0502020204030204" pitchFamily="34" charset="0"/>
                <a:ea typeface="Calibri" panose="020F0502020204030204" pitchFamily="34" charset="0"/>
                <a:cs typeface="Calibri" panose="020F0502020204030204" pitchFamily="34" charset="0"/>
                <a:sym typeface="Fira Sans"/>
              </a:rPr>
              <a:t>Our drone will be controlled using an application on phone and the code will run on the laptop.</a:t>
            </a:r>
            <a:br>
              <a:rPr lang="en-US" dirty="0">
                <a:latin typeface="Fira Sans"/>
                <a:ea typeface="Fira Sans"/>
                <a:cs typeface="Fira Sans"/>
                <a:sym typeface="Fira Sans"/>
              </a:rPr>
            </a:br>
            <a:br>
              <a:rPr lang="en-US" dirty="0">
                <a:latin typeface="Fira Sans"/>
                <a:ea typeface="Fira Sans"/>
                <a:cs typeface="Fira Sans"/>
                <a:sym typeface="Fira Sans"/>
              </a:rPr>
            </a:br>
            <a:r>
              <a:rPr lang="en-US" dirty="0">
                <a:latin typeface="Calibri" panose="020F0502020204030204" pitchFamily="34" charset="0"/>
                <a:ea typeface="Calibri" panose="020F0502020204030204" pitchFamily="34" charset="0"/>
                <a:cs typeface="Calibri" panose="020F0502020204030204" pitchFamily="34" charset="0"/>
                <a:sym typeface="Fira Sans"/>
              </a:rPr>
              <a:t>Since our camera does not have a high resolution (budget limit) we have decided to stick to a particular type of trash.</a:t>
            </a:r>
            <a:endParaRPr dirty="0">
              <a:latin typeface="Calibri" panose="020F0502020204030204" pitchFamily="34" charset="0"/>
              <a:ea typeface="Calibri" panose="020F0502020204030204" pitchFamily="34" charset="0"/>
              <a:cs typeface="Calibri" panose="020F0502020204030204" pitchFamily="34" charset="0"/>
              <a:sym typeface="Fira Sans"/>
            </a:endParaRPr>
          </a:p>
        </p:txBody>
      </p:sp>
      <p:sp>
        <p:nvSpPr>
          <p:cNvPr id="239" name="Google Shape;239;p1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
        <p:nvSpPr>
          <p:cNvPr id="240" name="Google Shape;240;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7"/>
          <p:cNvSpPr txBox="1">
            <a:spLocks noGrp="1"/>
          </p:cNvSpPr>
          <p:nvPr>
            <p:ph type="title"/>
          </p:nvPr>
        </p:nvSpPr>
        <p:spPr>
          <a:xfrm>
            <a:off x="838200" y="365125"/>
            <a:ext cx="10515600" cy="83162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b="1">
                <a:solidFill>
                  <a:srgbClr val="C00000"/>
                </a:solidFill>
                <a:latin typeface="Arial"/>
                <a:ea typeface="Arial"/>
                <a:cs typeface="Arial"/>
                <a:sym typeface="Arial"/>
              </a:rPr>
              <a:t>Results</a:t>
            </a:r>
            <a:endParaRPr b="1">
              <a:solidFill>
                <a:srgbClr val="C00000"/>
              </a:solidFill>
              <a:latin typeface="Arial"/>
              <a:ea typeface="Arial"/>
              <a:cs typeface="Arial"/>
              <a:sym typeface="Arial"/>
            </a:endParaRPr>
          </a:p>
        </p:txBody>
      </p:sp>
      <p:sp>
        <p:nvSpPr>
          <p:cNvPr id="246" name="Google Shape;246;p1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graphicFrame>
        <p:nvGraphicFramePr>
          <p:cNvPr id="247" name="Google Shape;247;p17"/>
          <p:cNvGraphicFramePr/>
          <p:nvPr>
            <p:extLst>
              <p:ext uri="{D42A27DB-BD31-4B8C-83A1-F6EECF244321}">
                <p14:modId xmlns:p14="http://schemas.microsoft.com/office/powerpoint/2010/main" val="1740076954"/>
              </p:ext>
            </p:extLst>
          </p:nvPr>
        </p:nvGraphicFramePr>
        <p:xfrm>
          <a:off x="1127448" y="2060848"/>
          <a:ext cx="9433050" cy="3114070"/>
        </p:xfrm>
        <a:graphic>
          <a:graphicData uri="http://schemas.openxmlformats.org/drawingml/2006/table">
            <a:tbl>
              <a:tblPr firstRow="1" bandRow="1">
                <a:noFill/>
                <a:tableStyleId>{6804DA4A-ABA7-42D8-B383-DA686238DA92}</a:tableStyleId>
              </a:tblPr>
              <a:tblGrid>
                <a:gridCol w="3144350">
                  <a:extLst>
                    <a:ext uri="{9D8B030D-6E8A-4147-A177-3AD203B41FA5}">
                      <a16:colId xmlns:a16="http://schemas.microsoft.com/office/drawing/2014/main" val="20000"/>
                    </a:ext>
                  </a:extLst>
                </a:gridCol>
                <a:gridCol w="3144350">
                  <a:extLst>
                    <a:ext uri="{9D8B030D-6E8A-4147-A177-3AD203B41FA5}">
                      <a16:colId xmlns:a16="http://schemas.microsoft.com/office/drawing/2014/main" val="20001"/>
                    </a:ext>
                  </a:extLst>
                </a:gridCol>
                <a:gridCol w="3144350">
                  <a:extLst>
                    <a:ext uri="{9D8B030D-6E8A-4147-A177-3AD203B41FA5}">
                      <a16:colId xmlns:a16="http://schemas.microsoft.com/office/drawing/2014/main" val="20002"/>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Objective  / Function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Achieved  / Not Achived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Remarks ( If Achived  range or accuracy . </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u="none" strike="noStrike" cap="none"/>
                        <a:t>If not achived  , justify probable reason</a:t>
                      </a:r>
                      <a:endParaRPr sz="14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The objective of a garbage-finding drone is to efficiently detect and locate plastic waste like </a:t>
                      </a:r>
                      <a:r>
                        <a:rPr lang="en-US" sz="1400" u="none" strike="noStrike" cap="none" dirty="0" err="1"/>
                        <a:t>amul</a:t>
                      </a:r>
                      <a:r>
                        <a:rPr lang="en-US" sz="1400" u="none" strike="noStrike" cap="none" dirty="0"/>
                        <a:t> packet, </a:t>
                      </a:r>
                      <a:r>
                        <a:rPr lang="en-US" sz="1400" u="none" strike="noStrike" cap="none" dirty="0" err="1"/>
                        <a:t>frooti</a:t>
                      </a:r>
                      <a:r>
                        <a:rPr lang="en-US" sz="1400" u="none" strike="noStrike" cap="none" dirty="0"/>
                        <a:t> bottle, peanut packet and egg </a:t>
                      </a:r>
                      <a:r>
                        <a:rPr lang="en-US" sz="1400" u="none" strike="noStrike" cap="none" dirty="0" err="1"/>
                        <a:t>shell.which</a:t>
                      </a:r>
                      <a:r>
                        <a:rPr lang="en-US" sz="1400" u="none" strike="noStrike" cap="none" dirty="0"/>
                        <a:t> is often found on streets.</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 Not achieved</a:t>
                      </a:r>
                      <a:br>
                        <a:rPr lang="en-US" sz="1400" u="none" strike="noStrike" cap="none" dirty="0"/>
                      </a:b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Esp 32 cam module was not able to detect and take the input from Arduino ide webserver for IP address. </a:t>
                      </a:r>
                      <a:br>
                        <a:rPr lang="en-US" sz="1400" u="none" strike="noStrike" cap="none" dirty="0"/>
                      </a:br>
                      <a:r>
                        <a:rPr lang="en-US" sz="1400" u="none" strike="noStrike" cap="none" dirty="0"/>
                        <a:t>Also the epoch being only 5 was not able to give best.pt of good value to be able to detect the images even though laptop web cam opened.</a:t>
                      </a:r>
                      <a:endParaRPr sz="1400" u="none" strike="noStrike" cap="none" dirty="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50" marR="91450" marT="45725" marB="45725"/>
                </a:tc>
                <a:extLst>
                  <a:ext uri="{0D108BD9-81ED-4DB2-BD59-A6C34878D82A}">
                    <a16:rowId xmlns:a16="http://schemas.microsoft.com/office/drawing/2014/main" val="10002"/>
                  </a:ext>
                </a:extLst>
              </a:tr>
            </a:tbl>
          </a:graphicData>
        </a:graphic>
      </p:graphicFrame>
      <p:sp>
        <p:nvSpPr>
          <p:cNvPr id="248" name="Google Shape;24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8"/>
          <p:cNvSpPr txBox="1">
            <a:spLocks noGrp="1"/>
          </p:cNvSpPr>
          <p:nvPr>
            <p:ph type="title"/>
          </p:nvPr>
        </p:nvSpPr>
        <p:spPr>
          <a:xfrm>
            <a:off x="838200" y="974034"/>
            <a:ext cx="10515600" cy="85476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50000"/>
              <a:buNone/>
            </a:pPr>
            <a:r>
              <a:rPr lang="en-US" sz="4000" b="1" dirty="0">
                <a:solidFill>
                  <a:srgbClr val="C00000"/>
                </a:solidFill>
                <a:latin typeface="Arial"/>
                <a:ea typeface="Arial"/>
                <a:cs typeface="Arial"/>
                <a:sym typeface="Arial"/>
              </a:rPr>
              <a:t>References</a:t>
            </a:r>
            <a:r>
              <a:rPr lang="en-US" sz="6000" b="1" dirty="0"/>
              <a:t> </a:t>
            </a:r>
            <a:endParaRPr sz="6000" b="1" dirty="0"/>
          </a:p>
        </p:txBody>
      </p:sp>
      <p:sp>
        <p:nvSpPr>
          <p:cNvPr id="254" name="Google Shape;254;p18"/>
          <p:cNvSpPr txBox="1">
            <a:spLocks noGrp="1"/>
          </p:cNvSpPr>
          <p:nvPr>
            <p:ph type="body" idx="1"/>
          </p:nvPr>
        </p:nvSpPr>
        <p:spPr>
          <a:xfrm>
            <a:off x="838200" y="1908313"/>
            <a:ext cx="10515600" cy="4268512"/>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1000"/>
              </a:spcBef>
              <a:spcAft>
                <a:spcPts val="0"/>
              </a:spcAft>
              <a:buSzPts val="1800"/>
              <a:buChar char="•"/>
            </a:pPr>
            <a:r>
              <a:rPr lang="en-US" dirty="0">
                <a:solidFill>
                  <a:srgbClr val="202124"/>
                </a:solidFill>
                <a:latin typeface="Arial"/>
                <a:ea typeface="Arial"/>
                <a:cs typeface="Arial"/>
                <a:sym typeface="Arial"/>
              </a:rPr>
              <a:t>Research papers on AI-based garbage detection, drone technology manuals, OpenCV and TensorFlow documentation.</a:t>
            </a:r>
            <a:endParaRPr dirty="0"/>
          </a:p>
          <a:p>
            <a:pPr marL="457200" lvl="0" indent="-457200" algn="l" rtl="0">
              <a:lnSpc>
                <a:spcPct val="90000"/>
              </a:lnSpc>
              <a:spcBef>
                <a:spcPts val="1000"/>
              </a:spcBef>
              <a:spcAft>
                <a:spcPts val="0"/>
              </a:spcAft>
              <a:buSzPts val="1800"/>
              <a:buChar char="•"/>
            </a:pPr>
            <a:r>
              <a:rPr lang="en-US" dirty="0">
                <a:latin typeface="Fira Sans"/>
                <a:ea typeface="Fira Sans"/>
                <a:cs typeface="Fira Sans"/>
                <a:sym typeface="Fira Sans"/>
              </a:rPr>
              <a:t>PBL Teachers and Sirs ,Ninad Sir, Technical Councils. Seniors: Shreya T, Zephyr, Jeet Gada, Wajeed and Lyba, Nitisha (ISTE), and Classmates.</a:t>
            </a:r>
            <a:endParaRPr dirty="0">
              <a:latin typeface="Fira Sans"/>
              <a:ea typeface="Fira Sans"/>
              <a:cs typeface="Fira Sans"/>
              <a:sym typeface="Fira Sans"/>
            </a:endParaRPr>
          </a:p>
        </p:txBody>
      </p:sp>
      <p:sp>
        <p:nvSpPr>
          <p:cNvPr id="255" name="Google Shape;255;p1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
        <p:nvSpPr>
          <p:cNvPr id="256" name="Google Shape;25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TotalTime>
  <Words>1274</Words>
  <Application>Microsoft Office PowerPoint</Application>
  <PresentationFormat>Widescreen</PresentationFormat>
  <Paragraphs>196</Paragraphs>
  <Slides>18</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Calibri</vt:lpstr>
      <vt:lpstr>Times New Roman</vt:lpstr>
      <vt:lpstr>Dutch801 XBd BT</vt:lpstr>
      <vt:lpstr>Noto Sans Symbols</vt:lpstr>
      <vt:lpstr>Arial</vt:lpstr>
      <vt:lpstr>Fira Sans</vt:lpstr>
      <vt:lpstr>Century</vt:lpstr>
      <vt:lpstr>Office Theme</vt:lpstr>
      <vt:lpstr>        PBL – Project  HOUSE HOLD TRASH DETECTING DRONE VIA IMAGE RECOGNITION</vt:lpstr>
      <vt:lpstr>Theme chosen for Project </vt:lpstr>
      <vt:lpstr>Need Statement</vt:lpstr>
      <vt:lpstr>Problem Statement</vt:lpstr>
      <vt:lpstr>Hardware / Software Requirements</vt:lpstr>
      <vt:lpstr>Time line Chart </vt:lpstr>
      <vt:lpstr>Conceptual Designs</vt:lpstr>
      <vt:lpstr>      Literature Survey</vt:lpstr>
      <vt:lpstr>PowerPoint Presentation</vt:lpstr>
      <vt:lpstr>Block Diagram of Project </vt:lpstr>
      <vt:lpstr>Project Cost  Sheet </vt:lpstr>
      <vt:lpstr>Proposed Circuit / Connection Diagram </vt:lpstr>
      <vt:lpstr>Project Status </vt:lpstr>
      <vt:lpstr>Results </vt:lpstr>
      <vt:lpstr>                      Video Link (Drive)</vt:lpstr>
      <vt:lpstr>Results </vt:lpstr>
      <vt:lpstr>Results</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DELL</dc:creator>
  <cp:lastModifiedBy>Varun Nair</cp:lastModifiedBy>
  <cp:revision>4</cp:revision>
  <dcterms:modified xsi:type="dcterms:W3CDTF">2025-04-11T09:07:57Z</dcterms:modified>
</cp:coreProperties>
</file>